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Proof of Theorem 3.2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B82F6"/>
                </a:solidFill>
                <a:latin typeface="Segoe UI"/>
              </a:defRPr>
            </a:pPr>
            <a:r>
              <a:t>Reduction: Steiner Tree  →  Metric Steiner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Vazirani — Approximation Algorithms,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Example:  V = {a, b, c, d},   R = {a, c, d} (Required),   Steiner = {b}</a:t>
            </a:r>
          </a:p>
          <a:p>
            <a:pPr algn="ctr"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59E0B"/>
                </a:solidFill>
                <a:latin typeface="Segoe UI"/>
              </a:defRPr>
            </a:pPr>
            <a:r>
              <a:t>Edges:  a-b(3),  b-c(2),  b-d(4),  a-c(7),  c-d(8)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Slide 1 / 7 — Instance I: Graph G = (V, 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Segoe UI"/>
              </a:defRPr>
            </a:pPr>
            <a:r>
              <a:t>V = {a, b, c, d}     Required R = {a, c, d}     Steiner = {b}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531" y="1463040"/>
            <a:ext cx="5056632" cy="40782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Slide 2 / 7 — Construction: Shortest Path for Every 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Segoe UI"/>
              </a:defRPr>
            </a:pPr>
            <a:r>
              <a:t>Let G' be the complete graph on V.  cost'(u,v) = shortest u-v path in 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356616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Pair (a, 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Direct a-b: 3</a:t>
            </a:r>
            <a:br/>
            <a:r>
              <a:t>• Via c: 7+2 =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⟹ cost'(a,b) =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371600"/>
            <a:ext cx="356616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Pair (a, 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Direct a-c: 7</a:t>
            </a:r>
            <a:br/>
            <a:r>
              <a:t>• Via b: 3+2 =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⟹ cost'(a,c) = 5 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371600"/>
            <a:ext cx="356616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39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Pair (a, 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39" y="18288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No direct edge</a:t>
            </a:r>
            <a:br/>
            <a:r>
              <a:t>• Via b: 3+4 =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39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⟹ cost'(a,d) = 7 (new!)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931920"/>
            <a:ext cx="356616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23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Pair (b, 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891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Direct b-c: 2</a:t>
            </a:r>
            <a:br/>
            <a:r>
              <a:t>• Via a: 3+7 =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669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⟹ cost'(b,c) =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3931920"/>
            <a:ext cx="356616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4023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Pair (b, 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3891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Direct b-d: 4</a:t>
            </a:r>
            <a:br/>
            <a:r>
              <a:t>• Via c: 2+8 =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5669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⟹ cost'(b,d) =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3931920"/>
            <a:ext cx="356616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39" y="4023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Pair (c, 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39" y="43891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Direct c-d: 8</a:t>
            </a:r>
            <a:br/>
            <a:r>
              <a:t>• Via b: 2+4 =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39" y="5669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⟹ cost'(c,d) = 6 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Slide 3 / 7 — Metric Closure G' (Complete Graph)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Segoe UI"/>
              </a:defRPr>
            </a:pPr>
            <a:r>
              <a:t>G' has C(4,2)=6 edges.  cost'(u,v)=dist_G(u,v).  R'=R={a,c,d}.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463040"/>
            <a:ext cx="9144000" cy="39152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Slide 4 / 7 — Direction 1: OPT(I') ≤ OPT(I)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Segoe UI"/>
              </a:defRPr>
            </a:pPr>
            <a:r>
              <a:t>For any edge (u,v) ∈ E, cost in G' ≤ cost in G  ⟹  OPT(I') ≤ OPT(I).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463040"/>
            <a:ext cx="9144000" cy="3919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Slide 5 / 7 — Direction 2, Step A: Approx Tree T' in G'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Segoe UI"/>
              </a:defRPr>
            </a:pPr>
            <a:r>
              <a:t>Suppose an α-approximation gives T' = {a-c, c-d} in G'.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cost'(T') = 5 + 6 = 11  (connects all required vertices a, c, d)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047" y="2011680"/>
            <a:ext cx="5943600" cy="27614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Slide 6 / 7 — Step B: Replace Edges by Shortest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Segoe UI"/>
              </a:defRPr>
            </a:pPr>
            <a:r>
              <a:t>Replace each edge of T' by its corresponding shortest path in G: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645920"/>
            <a:ext cx="9144000" cy="39711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Slide 7 / 7 — Step C: Final Steiner Tree T in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Segoe UI"/>
              </a:defRPr>
            </a:pPr>
            <a:r>
              <a:t>After removing duplicates, the subgraph is already a tree.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500" b="1">
                <a:solidFill>
                  <a:srgbClr val="22C55E"/>
                </a:solidFill>
                <a:latin typeface="Segoe UI"/>
              </a:defRPr>
            </a:pPr>
            <a:r>
              <a:t>T = {a-b(3), b-c(2), b-d(4)}    cost(T) = 3 + 2 + 4 = 9  ≤  11 = cost'(T')  ✓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271" y="2011680"/>
            <a:ext cx="4645152" cy="40553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Conclusion — Factor-Preserving Reduction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914400"/>
            <a:ext cx="9144000" cy="43423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Theorem 3.2 — Numerical Verification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Numerical Verification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400" b="0">
                <a:solidFill>
                  <a:srgbClr val="E2E8F0"/>
                </a:solidFill>
                <a:latin typeface="Segoe UI"/>
              </a:defRPr>
            </a:pPr>
          </a:p>
          <a:p>
            <a:pPr algn="l">
              <a:spcBef>
                <a:spcPts val="300"/>
              </a:spcBef>
              <a:spcAft>
                <a:spcPts val="200"/>
              </a:spcAft>
              <a:defRPr sz="1400" b="1">
                <a:solidFill>
                  <a:srgbClr val="3B82F6"/>
                </a:solidFill>
                <a:latin typeface="Segoe UI"/>
              </a:defRPr>
            </a:pPr>
            <a:r>
              <a:t>OPT(I) in G: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E2E8F0"/>
                </a:solidFill>
                <a:latin typeface="Segoe UI"/>
              </a:defRPr>
            </a:pPr>
            <a:r>
              <a:t>tree {a-b(3), b-c(2), b-d(4)}, cost = 9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400" b="0">
                <a:solidFill>
                  <a:srgbClr val="E2E8F0"/>
                </a:solidFill>
                <a:latin typeface="Segoe UI"/>
              </a:defRPr>
            </a:pPr>
          </a:p>
          <a:p>
            <a:pPr algn="l">
              <a:spcBef>
                <a:spcPts val="300"/>
              </a:spcBef>
              <a:spcAft>
                <a:spcPts val="200"/>
              </a:spcAft>
              <a:defRPr sz="1400" b="1">
                <a:solidFill>
                  <a:srgbClr val="22C55E"/>
                </a:solidFill>
                <a:latin typeface="Segoe UI"/>
              </a:defRPr>
            </a:pPr>
            <a:r>
              <a:t>OPT(I') in G':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E2E8F0"/>
                </a:solidFill>
                <a:latin typeface="Segoe UI"/>
              </a:defRPr>
            </a:pPr>
            <a:r>
              <a:t>same tree with cost' = 9 ≤ 9  ✓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400" b="0">
                <a:solidFill>
                  <a:srgbClr val="E2E8F0"/>
                </a:solidFill>
                <a:latin typeface="Segoe UI"/>
              </a:defRPr>
            </a:pPr>
          </a:p>
          <a:p>
            <a:pPr algn="l">
              <a:spcBef>
                <a:spcPts val="300"/>
              </a:spcBef>
              <a:spcAft>
                <a:spcPts val="200"/>
              </a:spcAft>
              <a:defRPr sz="1400" b="1">
                <a:solidFill>
                  <a:srgbClr val="EF4444"/>
                </a:solidFill>
                <a:latin typeface="Segoe UI"/>
              </a:defRPr>
            </a:pPr>
            <a:r>
              <a:t>Approx T' in G':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E2E8F0"/>
                </a:solidFill>
                <a:latin typeface="Segoe UI"/>
              </a:defRPr>
            </a:pPr>
            <a:r>
              <a:t>{a-c(5), c-d(6)}, cost' = 11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400" b="0">
                <a:solidFill>
                  <a:srgbClr val="E2E8F0"/>
                </a:solidFill>
                <a:latin typeface="Segoe UI"/>
              </a:defRPr>
            </a:pPr>
          </a:p>
          <a:p>
            <a:pPr algn="l">
              <a:spcBef>
                <a:spcPts val="300"/>
              </a:spcBef>
              <a:spcAft>
                <a:spcPts val="200"/>
              </a:spcAft>
              <a:defRPr sz="1400" b="1">
                <a:solidFill>
                  <a:srgbClr val="22C55E"/>
                </a:solidFill>
                <a:latin typeface="Segoe UI"/>
              </a:defRPr>
            </a:pPr>
            <a:r>
              <a:t>Map back T in G: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E2E8F0"/>
                </a:solidFill>
                <a:latin typeface="Segoe UI"/>
              </a:defRPr>
            </a:pPr>
            <a:r>
              <a:t>{a-b, b-c, b-d}, cost = 9 ≤ 11  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097280"/>
            <a:ext cx="530352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28016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Segoe UI"/>
              </a:defRPr>
            </a:pPr>
            <a:r>
              <a:t>Theorem 3.2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400" b="0">
                <a:solidFill>
                  <a:srgbClr val="E2E8F0"/>
                </a:solidFill>
                <a:latin typeface="Segoe UI"/>
              </a:defRPr>
            </a:pPr>
          </a:p>
          <a:p>
            <a:pPr algn="l"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E2E8F0"/>
                </a:solidFill>
                <a:latin typeface="Segoe UI"/>
              </a:defRPr>
            </a:pPr>
            <a:r>
              <a:t>The reduction from the Steiner tree problem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E2E8F0"/>
                </a:solidFill>
                <a:latin typeface="Segoe UI"/>
              </a:defRPr>
            </a:pPr>
            <a:r>
              <a:t>to the metric Steiner tree problem is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300" b="1">
                <a:solidFill>
                  <a:srgbClr val="E2E8F0"/>
                </a:solidFill>
                <a:latin typeface="Segoe UI"/>
              </a:defRPr>
            </a:pPr>
            <a:r>
              <a:t>approximation factor preserving.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600" b="0">
                <a:solidFill>
                  <a:srgbClr val="E2E8F0"/>
                </a:solidFill>
                <a:latin typeface="Segoe UI"/>
              </a:defRPr>
            </a:pPr>
          </a:p>
          <a:p>
            <a:pPr algn="l">
              <a:spcBef>
                <a:spcPts val="300"/>
              </a:spcBef>
              <a:spcAft>
                <a:spcPts val="200"/>
              </a:spcAft>
              <a:defRPr sz="1500" b="1">
                <a:solidFill>
                  <a:srgbClr val="A855F7"/>
                </a:solidFill>
                <a:latin typeface="Segoe UI"/>
              </a:defRPr>
            </a:pPr>
            <a:r>
              <a:t>Chain of Inequalities:</a:t>
            </a:r>
          </a:p>
          <a:p>
            <a:pPr algn="ctr"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E2E8F0"/>
                </a:solidFill>
                <a:latin typeface="Segoe UI"/>
              </a:defRPr>
            </a:pPr>
            <a:r>
              <a:t>cost(T)</a:t>
            </a:r>
          </a:p>
          <a:p>
            <a:pPr algn="ctr">
              <a:spcBef>
                <a:spcPts val="300"/>
              </a:spcBef>
              <a:spcAft>
                <a:spcPts val="200"/>
              </a:spcAft>
              <a:defRPr sz="1300" b="1">
                <a:solidFill>
                  <a:srgbClr val="22C55E"/>
                </a:solidFill>
                <a:latin typeface="Segoe UI"/>
              </a:defRPr>
            </a:pPr>
            <a:r>
              <a:t>≤  cost'(T')       (mapping back)</a:t>
            </a:r>
          </a:p>
          <a:p>
            <a:pPr algn="ctr">
              <a:spcBef>
                <a:spcPts val="300"/>
              </a:spcBef>
              <a:spcAft>
                <a:spcPts val="200"/>
              </a:spcAft>
              <a:defRPr sz="1300" b="1">
                <a:solidFill>
                  <a:srgbClr val="22C55E"/>
                </a:solidFill>
                <a:latin typeface="Segoe UI"/>
              </a:defRPr>
            </a:pPr>
            <a:r>
              <a:t>≤  α · OPT(I')     (α-approximation)</a:t>
            </a:r>
          </a:p>
          <a:p>
            <a:pPr algn="ctr">
              <a:spcBef>
                <a:spcPts val="300"/>
              </a:spcBef>
              <a:spcAft>
                <a:spcPts val="200"/>
              </a:spcAft>
              <a:defRPr sz="1300" b="1">
                <a:solidFill>
                  <a:srgbClr val="22C55E"/>
                </a:solidFill>
                <a:latin typeface="Segoe UI"/>
              </a:defRPr>
            </a:pPr>
            <a:r>
              <a:t>≤  α · OPT(I)      (lower bound)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600" b="0">
                <a:solidFill>
                  <a:srgbClr val="E2E8F0"/>
                </a:solidFill>
                <a:latin typeface="Segoe UI"/>
              </a:defRPr>
            </a:pPr>
          </a:p>
          <a:p>
            <a:pPr algn="ctr">
              <a:spcBef>
                <a:spcPts val="300"/>
              </a:spcBef>
              <a:spcAft>
                <a:spcPts val="200"/>
              </a:spcAft>
              <a:defRPr sz="1500" b="1">
                <a:solidFill>
                  <a:srgbClr val="A855F7"/>
                </a:solidFill>
                <a:latin typeface="Segoe UI"/>
              </a:defRPr>
            </a:pPr>
            <a:r>
              <a:t>∴  T is an α-approximation for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Segoe UI"/>
              </a:defRPr>
            </a:pPr>
            <a:r>
              <a:t>9  ≤  11  ≤  α · 9  ≤  α ·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"Any approximation factor for the metric Steiner tree carries over to the general Steiner tree."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126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0">
                <a:solidFill>
                  <a:srgbClr val="22C55E"/>
                </a:solidFill>
                <a:latin typeface="Segoe UI"/>
              </a:defRPr>
            </a:pPr>
            <a:r>
              <a:t>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