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ctr">
              <a:defRPr sz="4000" b="1">
                <a:solidFill>
                  <a:srgbClr val="0F172A"/>
                </a:solidFill>
                <a:latin typeface="Segoe UI"/>
              </a:defRPr>
            </a:pPr>
            <a:r>
              <a:t>Proof of Theorem 3.2</a:t>
            </a:r>
          </a:p>
        </p:txBody>
      </p:sp>
      <p:sp>
        <p:nvSpPr>
          <p:cNvPr id="3" name="TextBox 2"/>
          <p:cNvSpPr txBox="1"/>
          <p:nvPr/>
        </p:nvSpPr>
        <p:spPr>
          <a:xfrm>
            <a:off x="914400" y="2560320"/>
            <a:ext cx="10058400" cy="914400"/>
          </a:xfrm>
          <a:prstGeom prst="rect">
            <a:avLst/>
          </a:prstGeom>
          <a:noFill/>
        </p:spPr>
        <p:txBody>
          <a:bodyPr wrap="square">
            <a:spAutoFit/>
          </a:bodyPr>
          <a:lstStyle/>
          <a:p>
            <a:pPr algn="ctr">
              <a:defRPr sz="2400" b="0">
                <a:solidFill>
                  <a:srgbClr val="2563EB"/>
                </a:solidFill>
                <a:latin typeface="Segoe UI"/>
              </a:defRPr>
            </a:pPr>
            <a:r>
              <a:t>Reduction: Steiner Tree  →  Metric Steiner Tree</a:t>
            </a:r>
          </a:p>
        </p:txBody>
      </p:sp>
      <p:sp>
        <p:nvSpPr>
          <p:cNvPr id="4" name="TextBox 3"/>
          <p:cNvSpPr txBox="1"/>
          <p:nvPr/>
        </p:nvSpPr>
        <p:spPr>
          <a:xfrm>
            <a:off x="914400" y="3474720"/>
            <a:ext cx="10058400" cy="548640"/>
          </a:xfrm>
          <a:prstGeom prst="rect">
            <a:avLst/>
          </a:prstGeom>
          <a:noFill/>
        </p:spPr>
        <p:txBody>
          <a:bodyPr wrap="square">
            <a:spAutoFit/>
          </a:bodyPr>
          <a:lstStyle/>
          <a:p>
            <a:pPr algn="ctr">
              <a:defRPr sz="1600" b="0">
                <a:solidFill>
                  <a:srgbClr val="64748B"/>
                </a:solidFill>
                <a:latin typeface="Segoe UI"/>
              </a:defRPr>
            </a:pPr>
            <a:r>
              <a:t>Vazirani — Approximation Algorithms, Chapter 3</a:t>
            </a:r>
          </a:p>
        </p:txBody>
      </p:sp>
      <p:sp>
        <p:nvSpPr>
          <p:cNvPr id="5" name="TextBox 4"/>
          <p:cNvSpPr txBox="1"/>
          <p:nvPr/>
        </p:nvSpPr>
        <p:spPr>
          <a:xfrm>
            <a:off x="1828800" y="4572000"/>
            <a:ext cx="8229600" cy="1371600"/>
          </a:xfrm>
          <a:prstGeom prst="rect">
            <a:avLst/>
          </a:prstGeom>
          <a:noFill/>
        </p:spPr>
        <p:txBody>
          <a:bodyPr wrap="square">
            <a:spAutoFit/>
          </a:bodyPr>
          <a:lstStyle/>
          <a:p>
            <a:pPr algn="ctr">
              <a:defRPr sz="1400" b="0">
                <a:solidFill>
                  <a:srgbClr val="64748B"/>
                </a:solidFill>
                <a:latin typeface="Segoe UI"/>
              </a:defRPr>
            </a:pPr>
            <a:r>
              <a:t>Example:  V = {a, b, c, d},   R = {a, c, d} (Required),   Steiner = {b}</a:t>
            </a:r>
          </a:p>
          <a:p>
            <a:pPr algn="ctr">
              <a:spcBef>
                <a:spcPts val="300"/>
              </a:spcBef>
              <a:spcAft>
                <a:spcPts val="200"/>
              </a:spcAft>
              <a:defRPr sz="1400" b="0">
                <a:solidFill>
                  <a:srgbClr val="D97706"/>
                </a:solidFill>
                <a:latin typeface="Segoe UI"/>
              </a:defRPr>
            </a:pPr>
            <a:r>
              <a:t>Edges:  a-b(3),  b-c(2),  b-d(4),  a-c(7),  c-d(8)</a:t>
            </a:r>
          </a:p>
        </p:txBody>
      </p:sp>
      <p:sp>
        <p:nvSpPr>
          <p:cNvPr id="6" name="Rounded Rectangle 5"/>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“Proof: We will transform, in polynomial time, an instance I of the Steiner tree problem, consisting of graph G = (V, E), to an instance I′ of the metric Steiner tree problem as follows.”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548640"/>
          </a:xfrm>
          <a:prstGeom prst="rect">
            <a:avLst/>
          </a:prstGeom>
          <a:noFill/>
        </p:spPr>
        <p:txBody>
          <a:bodyPr wrap="square">
            <a:spAutoFit/>
          </a:bodyPr>
          <a:lstStyle/>
          <a:p>
            <a:pPr algn="l">
              <a:defRPr sz="2600" b="1">
                <a:solidFill>
                  <a:srgbClr val="0F172A"/>
                </a:solidFill>
                <a:latin typeface="Segoe UI"/>
              </a:defRPr>
            </a:pPr>
            <a:r>
              <a:t>Slide 1 / 7 — Instance I: Graph G = (V, E)</a:t>
            </a:r>
          </a:p>
        </p:txBody>
      </p:sp>
      <p:sp>
        <p:nvSpPr>
          <p:cNvPr id="3" name="TextBox 2"/>
          <p:cNvSpPr txBox="1"/>
          <p:nvPr/>
        </p:nvSpPr>
        <p:spPr>
          <a:xfrm>
            <a:off x="457200" y="822960"/>
            <a:ext cx="10972800" cy="457200"/>
          </a:xfrm>
          <a:prstGeom prst="rect">
            <a:avLst/>
          </a:prstGeom>
          <a:noFill/>
        </p:spPr>
        <p:txBody>
          <a:bodyPr wrap="square">
            <a:spAutoFit/>
          </a:bodyPr>
          <a:lstStyle/>
          <a:p>
            <a:pPr algn="l">
              <a:defRPr sz="1500" b="0">
                <a:solidFill>
                  <a:srgbClr val="334155"/>
                </a:solidFill>
                <a:latin typeface="Segoe UI"/>
              </a:defRPr>
            </a:pPr>
            <a:r>
              <a:t>V = {a, b, c, d}     Required R = {a, c, d}     Steiner = {b}</a:t>
            </a:r>
          </a:p>
        </p:txBody>
      </p:sp>
      <p:pic>
        <p:nvPicPr>
          <p:cNvPr id="4" name="Picture 3" descr="image.png"/>
          <p:cNvPicPr>
            <a:picLocks noChangeAspect="1"/>
          </p:cNvPicPr>
          <p:nvPr/>
        </p:nvPicPr>
        <p:blipFill>
          <a:blip r:embed="rId2"/>
          <a:stretch>
            <a:fillRect/>
          </a:stretch>
        </p:blipFill>
        <p:spPr>
          <a:xfrm>
            <a:off x="3567531" y="1463040"/>
            <a:ext cx="5056632" cy="4078224"/>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“We will transform, in polynomial time, an instance I of the Steiner tree problem, consisting of graph G = (V, E), to an instance I′ of the metric Steiner tree problem as follows.”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2 / 7 — Construction: Shortest Path for Every Pair</a:t>
            </a:r>
          </a:p>
        </p:txBody>
      </p:sp>
      <p:sp>
        <p:nvSpPr>
          <p:cNvPr id="3" name="TextBox 2"/>
          <p:cNvSpPr txBox="1"/>
          <p:nvPr/>
        </p:nvSpPr>
        <p:spPr>
          <a:xfrm>
            <a:off x="457200" y="822960"/>
            <a:ext cx="10972800" cy="365760"/>
          </a:xfrm>
          <a:prstGeom prst="rect">
            <a:avLst/>
          </a:prstGeom>
          <a:noFill/>
        </p:spPr>
        <p:txBody>
          <a:bodyPr wrap="square">
            <a:spAutoFit/>
          </a:bodyPr>
          <a:lstStyle/>
          <a:p>
            <a:pPr algn="l">
              <a:defRPr sz="1500" b="0">
                <a:solidFill>
                  <a:srgbClr val="334155"/>
                </a:solidFill>
                <a:latin typeface="Segoe UI"/>
              </a:defRPr>
            </a:pPr>
            <a:r>
              <a:t>Let G' be the complete graph on V.  cost'(u,v) = shortest u-v path in G.</a:t>
            </a:r>
          </a:p>
        </p:txBody>
      </p:sp>
      <p:sp>
        <p:nvSpPr>
          <p:cNvPr id="4" name="Rounded Rectangle 3"/>
          <p:cNvSpPr/>
          <p:nvPr/>
        </p:nvSpPr>
        <p:spPr>
          <a:xfrm>
            <a:off x="365760" y="137160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63040"/>
            <a:ext cx="3291840" cy="320040"/>
          </a:xfrm>
          <a:prstGeom prst="rect">
            <a:avLst/>
          </a:prstGeom>
          <a:noFill/>
        </p:spPr>
        <p:txBody>
          <a:bodyPr wrap="square">
            <a:spAutoFit/>
          </a:bodyPr>
          <a:lstStyle/>
          <a:p>
            <a:pPr algn="l">
              <a:defRPr sz="1400" b="1">
                <a:solidFill>
                  <a:srgbClr val="D97706"/>
                </a:solidFill>
                <a:latin typeface="Segoe UI"/>
              </a:defRPr>
            </a:pPr>
            <a:r>
              <a:t>Pair (a, b)</a:t>
            </a:r>
          </a:p>
        </p:txBody>
      </p:sp>
      <p:sp>
        <p:nvSpPr>
          <p:cNvPr id="6" name="TextBox 5"/>
          <p:cNvSpPr txBox="1"/>
          <p:nvPr/>
        </p:nvSpPr>
        <p:spPr>
          <a:xfrm>
            <a:off x="502920" y="1783080"/>
            <a:ext cx="3291840" cy="914400"/>
          </a:xfrm>
          <a:prstGeom prst="rect">
            <a:avLst/>
          </a:prstGeom>
          <a:noFill/>
        </p:spPr>
        <p:txBody>
          <a:bodyPr wrap="square">
            <a:spAutoFit/>
          </a:bodyPr>
          <a:lstStyle/>
          <a:p>
            <a:pPr algn="l">
              <a:defRPr sz="1100" b="0">
                <a:solidFill>
                  <a:srgbClr val="64748B"/>
                </a:solidFill>
                <a:latin typeface="Segoe UI"/>
              </a:defRPr>
            </a:pPr>
            <a:r>
              <a:t>• Direct a-b: 3</a:t>
            </a:r>
            <a:br/>
            <a:r>
              <a:t>• Via c: 7+2 = 9</a:t>
            </a:r>
          </a:p>
        </p:txBody>
      </p:sp>
      <p:sp>
        <p:nvSpPr>
          <p:cNvPr id="7" name="TextBox 6"/>
          <p:cNvSpPr txBox="1"/>
          <p:nvPr/>
        </p:nvSpPr>
        <p:spPr>
          <a:xfrm>
            <a:off x="502920" y="2834640"/>
            <a:ext cx="3291840" cy="457200"/>
          </a:xfrm>
          <a:prstGeom prst="rect">
            <a:avLst/>
          </a:prstGeom>
          <a:noFill/>
        </p:spPr>
        <p:txBody>
          <a:bodyPr wrap="square">
            <a:spAutoFit/>
          </a:bodyPr>
          <a:lstStyle/>
          <a:p>
            <a:pPr algn="l">
              <a:defRPr sz="1300" b="1">
                <a:solidFill>
                  <a:srgbClr val="16A34A"/>
                </a:solidFill>
                <a:latin typeface="Segoe UI"/>
              </a:defRPr>
            </a:pPr>
            <a:r>
              <a:t>⟹ cost'(a,b) = 3</a:t>
            </a:r>
          </a:p>
        </p:txBody>
      </p:sp>
      <p:sp>
        <p:nvSpPr>
          <p:cNvPr id="8" name="Rounded Rectangle 7"/>
          <p:cNvSpPr/>
          <p:nvPr/>
        </p:nvSpPr>
        <p:spPr>
          <a:xfrm>
            <a:off x="4160520" y="137160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463040"/>
            <a:ext cx="3291840" cy="320040"/>
          </a:xfrm>
          <a:prstGeom prst="rect">
            <a:avLst/>
          </a:prstGeom>
          <a:noFill/>
        </p:spPr>
        <p:txBody>
          <a:bodyPr wrap="square">
            <a:spAutoFit/>
          </a:bodyPr>
          <a:lstStyle/>
          <a:p>
            <a:pPr algn="l">
              <a:defRPr sz="1400" b="1">
                <a:solidFill>
                  <a:srgbClr val="D97706"/>
                </a:solidFill>
                <a:latin typeface="Segoe UI"/>
              </a:defRPr>
            </a:pPr>
            <a:r>
              <a:t>Pair (a, c)</a:t>
            </a:r>
          </a:p>
        </p:txBody>
      </p:sp>
      <p:sp>
        <p:nvSpPr>
          <p:cNvPr id="10" name="TextBox 9"/>
          <p:cNvSpPr txBox="1"/>
          <p:nvPr/>
        </p:nvSpPr>
        <p:spPr>
          <a:xfrm>
            <a:off x="4297680" y="1783080"/>
            <a:ext cx="3291840" cy="914400"/>
          </a:xfrm>
          <a:prstGeom prst="rect">
            <a:avLst/>
          </a:prstGeom>
          <a:noFill/>
        </p:spPr>
        <p:txBody>
          <a:bodyPr wrap="square">
            <a:spAutoFit/>
          </a:bodyPr>
          <a:lstStyle/>
          <a:p>
            <a:pPr algn="l">
              <a:defRPr sz="1100" b="0">
                <a:solidFill>
                  <a:srgbClr val="64748B"/>
                </a:solidFill>
                <a:latin typeface="Segoe UI"/>
              </a:defRPr>
            </a:pPr>
            <a:r>
              <a:t>• Direct a-c: 7</a:t>
            </a:r>
            <a:br/>
            <a:r>
              <a:t>• Via b: 3+2 = 5</a:t>
            </a:r>
          </a:p>
        </p:txBody>
      </p:sp>
      <p:sp>
        <p:nvSpPr>
          <p:cNvPr id="11" name="TextBox 10"/>
          <p:cNvSpPr txBox="1"/>
          <p:nvPr/>
        </p:nvSpPr>
        <p:spPr>
          <a:xfrm>
            <a:off x="4297680" y="2834640"/>
            <a:ext cx="3291840" cy="457200"/>
          </a:xfrm>
          <a:prstGeom prst="rect">
            <a:avLst/>
          </a:prstGeom>
          <a:noFill/>
        </p:spPr>
        <p:txBody>
          <a:bodyPr wrap="square">
            <a:spAutoFit/>
          </a:bodyPr>
          <a:lstStyle/>
          <a:p>
            <a:pPr algn="l">
              <a:defRPr sz="1300" b="1">
                <a:solidFill>
                  <a:srgbClr val="16A34A"/>
                </a:solidFill>
                <a:latin typeface="Segoe UI"/>
              </a:defRPr>
            </a:pPr>
            <a:r>
              <a:t>⟹ cost'(a,c) = 5 ⭐</a:t>
            </a:r>
          </a:p>
        </p:txBody>
      </p:sp>
      <p:sp>
        <p:nvSpPr>
          <p:cNvPr id="12" name="Rounded Rectangle 11"/>
          <p:cNvSpPr/>
          <p:nvPr/>
        </p:nvSpPr>
        <p:spPr>
          <a:xfrm>
            <a:off x="7955279" y="137160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39" y="1463040"/>
            <a:ext cx="3291840" cy="320040"/>
          </a:xfrm>
          <a:prstGeom prst="rect">
            <a:avLst/>
          </a:prstGeom>
          <a:noFill/>
        </p:spPr>
        <p:txBody>
          <a:bodyPr wrap="square">
            <a:spAutoFit/>
          </a:bodyPr>
          <a:lstStyle/>
          <a:p>
            <a:pPr algn="l">
              <a:defRPr sz="1400" b="1">
                <a:solidFill>
                  <a:srgbClr val="D97706"/>
                </a:solidFill>
                <a:latin typeface="Segoe UI"/>
              </a:defRPr>
            </a:pPr>
            <a:r>
              <a:t>Pair (a, d)</a:t>
            </a:r>
          </a:p>
        </p:txBody>
      </p:sp>
      <p:sp>
        <p:nvSpPr>
          <p:cNvPr id="14" name="TextBox 13"/>
          <p:cNvSpPr txBox="1"/>
          <p:nvPr/>
        </p:nvSpPr>
        <p:spPr>
          <a:xfrm>
            <a:off x="8092439" y="1783080"/>
            <a:ext cx="3291840" cy="914400"/>
          </a:xfrm>
          <a:prstGeom prst="rect">
            <a:avLst/>
          </a:prstGeom>
          <a:noFill/>
        </p:spPr>
        <p:txBody>
          <a:bodyPr wrap="square">
            <a:spAutoFit/>
          </a:bodyPr>
          <a:lstStyle/>
          <a:p>
            <a:pPr algn="l">
              <a:defRPr sz="1100" b="0">
                <a:solidFill>
                  <a:srgbClr val="64748B"/>
                </a:solidFill>
                <a:latin typeface="Segoe UI"/>
              </a:defRPr>
            </a:pPr>
            <a:r>
              <a:t>• No direct edge</a:t>
            </a:r>
            <a:br/>
            <a:r>
              <a:t>• Via b: 3+4 = 7</a:t>
            </a:r>
          </a:p>
        </p:txBody>
      </p:sp>
      <p:sp>
        <p:nvSpPr>
          <p:cNvPr id="15" name="TextBox 14"/>
          <p:cNvSpPr txBox="1"/>
          <p:nvPr/>
        </p:nvSpPr>
        <p:spPr>
          <a:xfrm>
            <a:off x="8092439" y="2834640"/>
            <a:ext cx="3291840" cy="457200"/>
          </a:xfrm>
          <a:prstGeom prst="rect">
            <a:avLst/>
          </a:prstGeom>
          <a:noFill/>
        </p:spPr>
        <p:txBody>
          <a:bodyPr wrap="square">
            <a:spAutoFit/>
          </a:bodyPr>
          <a:lstStyle/>
          <a:p>
            <a:pPr algn="l">
              <a:defRPr sz="1300" b="1">
                <a:solidFill>
                  <a:srgbClr val="16A34A"/>
                </a:solidFill>
                <a:latin typeface="Segoe UI"/>
              </a:defRPr>
            </a:pPr>
            <a:r>
              <a:t>⟹ cost'(a,d) = 7 (new!)</a:t>
            </a:r>
          </a:p>
        </p:txBody>
      </p:sp>
      <p:sp>
        <p:nvSpPr>
          <p:cNvPr id="16" name="Rounded Rectangle 15"/>
          <p:cNvSpPr/>
          <p:nvPr/>
        </p:nvSpPr>
        <p:spPr>
          <a:xfrm>
            <a:off x="365760" y="356616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657600"/>
            <a:ext cx="3291840" cy="320040"/>
          </a:xfrm>
          <a:prstGeom prst="rect">
            <a:avLst/>
          </a:prstGeom>
          <a:noFill/>
        </p:spPr>
        <p:txBody>
          <a:bodyPr wrap="square">
            <a:spAutoFit/>
          </a:bodyPr>
          <a:lstStyle/>
          <a:p>
            <a:pPr algn="l">
              <a:defRPr sz="1400" b="1">
                <a:solidFill>
                  <a:srgbClr val="D97706"/>
                </a:solidFill>
                <a:latin typeface="Segoe UI"/>
              </a:defRPr>
            </a:pPr>
            <a:r>
              <a:t>Pair (b, c)</a:t>
            </a:r>
          </a:p>
        </p:txBody>
      </p:sp>
      <p:sp>
        <p:nvSpPr>
          <p:cNvPr id="18" name="TextBox 17"/>
          <p:cNvSpPr txBox="1"/>
          <p:nvPr/>
        </p:nvSpPr>
        <p:spPr>
          <a:xfrm>
            <a:off x="502920" y="3977640"/>
            <a:ext cx="3291840" cy="914400"/>
          </a:xfrm>
          <a:prstGeom prst="rect">
            <a:avLst/>
          </a:prstGeom>
          <a:noFill/>
        </p:spPr>
        <p:txBody>
          <a:bodyPr wrap="square">
            <a:spAutoFit/>
          </a:bodyPr>
          <a:lstStyle/>
          <a:p>
            <a:pPr algn="l">
              <a:defRPr sz="1100" b="0">
                <a:solidFill>
                  <a:srgbClr val="64748B"/>
                </a:solidFill>
                <a:latin typeface="Segoe UI"/>
              </a:defRPr>
            </a:pPr>
            <a:r>
              <a:t>• Direct b-c: 2</a:t>
            </a:r>
            <a:br/>
            <a:r>
              <a:t>• Via a: 3+7 = 10</a:t>
            </a:r>
          </a:p>
        </p:txBody>
      </p:sp>
      <p:sp>
        <p:nvSpPr>
          <p:cNvPr id="19" name="TextBox 18"/>
          <p:cNvSpPr txBox="1"/>
          <p:nvPr/>
        </p:nvSpPr>
        <p:spPr>
          <a:xfrm>
            <a:off x="502920" y="5029200"/>
            <a:ext cx="3291840" cy="457200"/>
          </a:xfrm>
          <a:prstGeom prst="rect">
            <a:avLst/>
          </a:prstGeom>
          <a:noFill/>
        </p:spPr>
        <p:txBody>
          <a:bodyPr wrap="square">
            <a:spAutoFit/>
          </a:bodyPr>
          <a:lstStyle/>
          <a:p>
            <a:pPr algn="l">
              <a:defRPr sz="1300" b="1">
                <a:solidFill>
                  <a:srgbClr val="16A34A"/>
                </a:solidFill>
                <a:latin typeface="Segoe UI"/>
              </a:defRPr>
            </a:pPr>
            <a:r>
              <a:t>⟹ cost'(b,c) = 2</a:t>
            </a:r>
          </a:p>
        </p:txBody>
      </p:sp>
      <p:sp>
        <p:nvSpPr>
          <p:cNvPr id="20" name="Rounded Rectangle 19"/>
          <p:cNvSpPr/>
          <p:nvPr/>
        </p:nvSpPr>
        <p:spPr>
          <a:xfrm>
            <a:off x="4160520" y="356616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3657600"/>
            <a:ext cx="3291840" cy="320040"/>
          </a:xfrm>
          <a:prstGeom prst="rect">
            <a:avLst/>
          </a:prstGeom>
          <a:noFill/>
        </p:spPr>
        <p:txBody>
          <a:bodyPr wrap="square">
            <a:spAutoFit/>
          </a:bodyPr>
          <a:lstStyle/>
          <a:p>
            <a:pPr algn="l">
              <a:defRPr sz="1400" b="1">
                <a:solidFill>
                  <a:srgbClr val="D97706"/>
                </a:solidFill>
                <a:latin typeface="Segoe UI"/>
              </a:defRPr>
            </a:pPr>
            <a:r>
              <a:t>Pair (b, d)</a:t>
            </a:r>
          </a:p>
        </p:txBody>
      </p:sp>
      <p:sp>
        <p:nvSpPr>
          <p:cNvPr id="22" name="TextBox 21"/>
          <p:cNvSpPr txBox="1"/>
          <p:nvPr/>
        </p:nvSpPr>
        <p:spPr>
          <a:xfrm>
            <a:off x="4297680" y="3977640"/>
            <a:ext cx="3291840" cy="914400"/>
          </a:xfrm>
          <a:prstGeom prst="rect">
            <a:avLst/>
          </a:prstGeom>
          <a:noFill/>
        </p:spPr>
        <p:txBody>
          <a:bodyPr wrap="square">
            <a:spAutoFit/>
          </a:bodyPr>
          <a:lstStyle/>
          <a:p>
            <a:pPr algn="l">
              <a:defRPr sz="1100" b="0">
                <a:solidFill>
                  <a:srgbClr val="64748B"/>
                </a:solidFill>
                <a:latin typeface="Segoe UI"/>
              </a:defRPr>
            </a:pPr>
            <a:r>
              <a:t>• Direct b-d: 4</a:t>
            </a:r>
            <a:br/>
            <a:r>
              <a:t>• Via c: 2+8 = 10</a:t>
            </a:r>
          </a:p>
        </p:txBody>
      </p:sp>
      <p:sp>
        <p:nvSpPr>
          <p:cNvPr id="23" name="TextBox 22"/>
          <p:cNvSpPr txBox="1"/>
          <p:nvPr/>
        </p:nvSpPr>
        <p:spPr>
          <a:xfrm>
            <a:off x="4297680" y="5029200"/>
            <a:ext cx="3291840" cy="457200"/>
          </a:xfrm>
          <a:prstGeom prst="rect">
            <a:avLst/>
          </a:prstGeom>
          <a:noFill/>
        </p:spPr>
        <p:txBody>
          <a:bodyPr wrap="square">
            <a:spAutoFit/>
          </a:bodyPr>
          <a:lstStyle/>
          <a:p>
            <a:pPr algn="l">
              <a:defRPr sz="1300" b="1">
                <a:solidFill>
                  <a:srgbClr val="16A34A"/>
                </a:solidFill>
                <a:latin typeface="Segoe UI"/>
              </a:defRPr>
            </a:pPr>
            <a:r>
              <a:t>⟹ cost'(b,d) = 4</a:t>
            </a:r>
          </a:p>
        </p:txBody>
      </p:sp>
      <p:sp>
        <p:nvSpPr>
          <p:cNvPr id="24" name="Rounded Rectangle 23"/>
          <p:cNvSpPr/>
          <p:nvPr/>
        </p:nvSpPr>
        <p:spPr>
          <a:xfrm>
            <a:off x="7955279" y="3566160"/>
            <a:ext cx="356616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39" y="3657600"/>
            <a:ext cx="3291840" cy="320040"/>
          </a:xfrm>
          <a:prstGeom prst="rect">
            <a:avLst/>
          </a:prstGeom>
          <a:noFill/>
        </p:spPr>
        <p:txBody>
          <a:bodyPr wrap="square">
            <a:spAutoFit/>
          </a:bodyPr>
          <a:lstStyle/>
          <a:p>
            <a:pPr algn="l">
              <a:defRPr sz="1400" b="1">
                <a:solidFill>
                  <a:srgbClr val="D97706"/>
                </a:solidFill>
                <a:latin typeface="Segoe UI"/>
              </a:defRPr>
            </a:pPr>
            <a:r>
              <a:t>Pair (c, d)</a:t>
            </a:r>
          </a:p>
        </p:txBody>
      </p:sp>
      <p:sp>
        <p:nvSpPr>
          <p:cNvPr id="26" name="TextBox 25"/>
          <p:cNvSpPr txBox="1"/>
          <p:nvPr/>
        </p:nvSpPr>
        <p:spPr>
          <a:xfrm>
            <a:off x="8092439" y="3977640"/>
            <a:ext cx="3291840" cy="914400"/>
          </a:xfrm>
          <a:prstGeom prst="rect">
            <a:avLst/>
          </a:prstGeom>
          <a:noFill/>
        </p:spPr>
        <p:txBody>
          <a:bodyPr wrap="square">
            <a:spAutoFit/>
          </a:bodyPr>
          <a:lstStyle/>
          <a:p>
            <a:pPr algn="l">
              <a:defRPr sz="1100" b="0">
                <a:solidFill>
                  <a:srgbClr val="64748B"/>
                </a:solidFill>
                <a:latin typeface="Segoe UI"/>
              </a:defRPr>
            </a:pPr>
            <a:r>
              <a:t>• Direct c-d: 8</a:t>
            </a:r>
            <a:br/>
            <a:r>
              <a:t>• Via b: 2+4 = 6</a:t>
            </a:r>
          </a:p>
        </p:txBody>
      </p:sp>
      <p:sp>
        <p:nvSpPr>
          <p:cNvPr id="27" name="TextBox 26"/>
          <p:cNvSpPr txBox="1"/>
          <p:nvPr/>
        </p:nvSpPr>
        <p:spPr>
          <a:xfrm>
            <a:off x="8092439" y="5029200"/>
            <a:ext cx="3291840" cy="457200"/>
          </a:xfrm>
          <a:prstGeom prst="rect">
            <a:avLst/>
          </a:prstGeom>
          <a:noFill/>
        </p:spPr>
        <p:txBody>
          <a:bodyPr wrap="square">
            <a:spAutoFit/>
          </a:bodyPr>
          <a:lstStyle/>
          <a:p>
            <a:pPr algn="l">
              <a:defRPr sz="1300" b="1">
                <a:solidFill>
                  <a:srgbClr val="16A34A"/>
                </a:solidFill>
                <a:latin typeface="Segoe UI"/>
              </a:defRPr>
            </a:pPr>
            <a:r>
              <a:t>⟹ cost'(c,d) = 6 ⭐</a:t>
            </a:r>
          </a:p>
        </p:txBody>
      </p:sp>
      <p:sp>
        <p:nvSpPr>
          <p:cNvPr id="28" name="Rounded Rectangle 27"/>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“Let G′ be the complete undirected graph on vertex set V. Define the cost of edge (u, v) in G′ to be the cost of a shortest u–v path in 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3 / 7 — Metric Closure G' (Complete Graph)</a:t>
            </a:r>
          </a:p>
        </p:txBody>
      </p:sp>
      <p:sp>
        <p:nvSpPr>
          <p:cNvPr id="3" name="TextBox 2"/>
          <p:cNvSpPr txBox="1"/>
          <p:nvPr/>
        </p:nvSpPr>
        <p:spPr>
          <a:xfrm>
            <a:off x="457200" y="822960"/>
            <a:ext cx="10972800" cy="457200"/>
          </a:xfrm>
          <a:prstGeom prst="rect">
            <a:avLst/>
          </a:prstGeom>
          <a:noFill/>
        </p:spPr>
        <p:txBody>
          <a:bodyPr wrap="square">
            <a:spAutoFit/>
          </a:bodyPr>
          <a:lstStyle/>
          <a:p>
            <a:pPr algn="l">
              <a:defRPr sz="1400" b="0">
                <a:solidFill>
                  <a:srgbClr val="334155"/>
                </a:solidFill>
                <a:latin typeface="Segoe UI"/>
              </a:defRPr>
            </a:pPr>
            <a:r>
              <a:t>G' has C(4,2)=6 edges.  cost'(u,v)=dist_G(u,v).  R'=R={a,c,d}.</a:t>
            </a:r>
          </a:p>
        </p:txBody>
      </p:sp>
      <p:pic>
        <p:nvPicPr>
          <p:cNvPr id="4" name="Picture 3" descr="image.png"/>
          <p:cNvPicPr>
            <a:picLocks noChangeAspect="1"/>
          </p:cNvPicPr>
          <p:nvPr/>
        </p:nvPicPr>
        <p:blipFill>
          <a:blip r:embed="rId2"/>
          <a:stretch>
            <a:fillRect/>
          </a:stretch>
        </p:blipFill>
        <p:spPr>
          <a:xfrm>
            <a:off x="1523847" y="1463040"/>
            <a:ext cx="9144000" cy="3915294"/>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“G′ is called the metric closure of G. The partition of V into required and Steiner vertices in I′ is the same as in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4 / 7 — Direction 1: OPT(I') ≤ OPT(I)</a:t>
            </a:r>
          </a:p>
        </p:txBody>
      </p:sp>
      <p:sp>
        <p:nvSpPr>
          <p:cNvPr id="3" name="TextBox 2"/>
          <p:cNvSpPr txBox="1"/>
          <p:nvPr/>
        </p:nvSpPr>
        <p:spPr>
          <a:xfrm>
            <a:off x="457200" y="822960"/>
            <a:ext cx="10972800" cy="457200"/>
          </a:xfrm>
          <a:prstGeom prst="rect">
            <a:avLst/>
          </a:prstGeom>
          <a:noFill/>
        </p:spPr>
        <p:txBody>
          <a:bodyPr wrap="square">
            <a:spAutoFit/>
          </a:bodyPr>
          <a:lstStyle/>
          <a:p>
            <a:pPr algn="l">
              <a:defRPr sz="1400" b="0">
                <a:solidFill>
                  <a:srgbClr val="334155"/>
                </a:solidFill>
                <a:latin typeface="Segoe UI"/>
              </a:defRPr>
            </a:pPr>
            <a:r>
              <a:t>For any edge (u,v) ∈ E, cost in G' ≤ cost in G  ⟹  OPT(I') ≤ OPT(I).</a:t>
            </a:r>
          </a:p>
        </p:txBody>
      </p:sp>
      <p:pic>
        <p:nvPicPr>
          <p:cNvPr id="4" name="Picture 3" descr="image.png"/>
          <p:cNvPicPr>
            <a:picLocks noChangeAspect="1"/>
          </p:cNvPicPr>
          <p:nvPr/>
        </p:nvPicPr>
        <p:blipFill>
          <a:blip r:embed="rId2"/>
          <a:stretch>
            <a:fillRect/>
          </a:stretch>
        </p:blipFill>
        <p:spPr>
          <a:xfrm>
            <a:off x="1523847" y="1463040"/>
            <a:ext cx="9144000" cy="3919450"/>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“For any edge (u, v) ∈ E, its cost in G′ is no more than its cost in G. Therefore, the cost of an optimal solution in I′ does not exceed the cost of an optimal solution in 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5 / 7 — Direction 2, Step A: Approx Tree T' in G'</a:t>
            </a:r>
          </a:p>
        </p:txBody>
      </p:sp>
      <p:sp>
        <p:nvSpPr>
          <p:cNvPr id="3" name="TextBox 2"/>
          <p:cNvSpPr txBox="1"/>
          <p:nvPr/>
        </p:nvSpPr>
        <p:spPr>
          <a:xfrm>
            <a:off x="457200" y="822960"/>
            <a:ext cx="10972800" cy="731520"/>
          </a:xfrm>
          <a:prstGeom prst="rect">
            <a:avLst/>
          </a:prstGeom>
          <a:noFill/>
        </p:spPr>
        <p:txBody>
          <a:bodyPr wrap="square">
            <a:spAutoFit/>
          </a:bodyPr>
          <a:lstStyle/>
          <a:p>
            <a:pPr algn="l">
              <a:defRPr sz="1500" b="0">
                <a:solidFill>
                  <a:srgbClr val="334155"/>
                </a:solidFill>
                <a:latin typeface="Segoe UI"/>
              </a:defRPr>
            </a:pPr>
            <a:r>
              <a:t>Suppose an α-approximation gives T' = {a-c, c-d} in G'.</a:t>
            </a:r>
          </a:p>
          <a:p>
            <a:pPr algn="l">
              <a:spcBef>
                <a:spcPts val="300"/>
              </a:spcBef>
              <a:spcAft>
                <a:spcPts val="200"/>
              </a:spcAft>
              <a:defRPr sz="1400" b="1">
                <a:solidFill>
                  <a:srgbClr val="D97706"/>
                </a:solidFill>
                <a:latin typeface="Segoe UI"/>
              </a:defRPr>
            </a:pPr>
            <a:r>
              <a:t>cost'(T') = 5 + 6 = 11  (connects all required vertices a, c, d)</a:t>
            </a:r>
          </a:p>
        </p:txBody>
      </p:sp>
      <p:pic>
        <p:nvPicPr>
          <p:cNvPr id="4" name="Picture 3" descr="image.png"/>
          <p:cNvPicPr>
            <a:picLocks noChangeAspect="1"/>
          </p:cNvPicPr>
          <p:nvPr/>
        </p:nvPicPr>
        <p:blipFill>
          <a:blip r:embed="rId2"/>
          <a:stretch>
            <a:fillRect/>
          </a:stretch>
        </p:blipFill>
        <p:spPr>
          <a:xfrm>
            <a:off x="3124047" y="2011680"/>
            <a:ext cx="5943600" cy="2761488"/>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“Next, given a Steiner tree T′ in I′, we will show how to obtain, in polynomial time, a Steiner tree T in I of at most the same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6 / 7 — Step B: Replace Edges by Shortest Paths</a:t>
            </a:r>
          </a:p>
        </p:txBody>
      </p:sp>
      <p:sp>
        <p:nvSpPr>
          <p:cNvPr id="3" name="TextBox 2"/>
          <p:cNvSpPr txBox="1"/>
          <p:nvPr/>
        </p:nvSpPr>
        <p:spPr>
          <a:xfrm>
            <a:off x="457200" y="822960"/>
            <a:ext cx="10972800" cy="457200"/>
          </a:xfrm>
          <a:prstGeom prst="rect">
            <a:avLst/>
          </a:prstGeom>
          <a:noFill/>
        </p:spPr>
        <p:txBody>
          <a:bodyPr wrap="square">
            <a:spAutoFit/>
          </a:bodyPr>
          <a:lstStyle/>
          <a:p>
            <a:pPr algn="l">
              <a:defRPr sz="1400" b="0">
                <a:solidFill>
                  <a:srgbClr val="334155"/>
                </a:solidFill>
                <a:latin typeface="Segoe UI"/>
              </a:defRPr>
            </a:pPr>
            <a:r>
              <a:t>Replace each edge of T' by its corresponding shortest path in G:</a:t>
            </a:r>
          </a:p>
        </p:txBody>
      </p:sp>
      <p:pic>
        <p:nvPicPr>
          <p:cNvPr id="4" name="Picture 3" descr="image.png"/>
          <p:cNvPicPr>
            <a:picLocks noChangeAspect="1"/>
          </p:cNvPicPr>
          <p:nvPr/>
        </p:nvPicPr>
        <p:blipFill>
          <a:blip r:embed="rId2"/>
          <a:stretch>
            <a:fillRect/>
          </a:stretch>
        </p:blipFill>
        <p:spPr>
          <a:xfrm>
            <a:off x="1523847" y="1645920"/>
            <a:ext cx="9144000" cy="3971108"/>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“The cost of an edge (u, v) in G′ corresponds to the cost of a path in G. Replace each edge of T′ by the corresponding path to obtain a subgraph of 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Slide 7 / 7 — Step C: Final Steiner Tree T in G</a:t>
            </a:r>
          </a:p>
        </p:txBody>
      </p:sp>
      <p:sp>
        <p:nvSpPr>
          <p:cNvPr id="3" name="TextBox 2"/>
          <p:cNvSpPr txBox="1"/>
          <p:nvPr/>
        </p:nvSpPr>
        <p:spPr>
          <a:xfrm>
            <a:off x="457200" y="822960"/>
            <a:ext cx="10972800" cy="731520"/>
          </a:xfrm>
          <a:prstGeom prst="rect">
            <a:avLst/>
          </a:prstGeom>
          <a:noFill/>
        </p:spPr>
        <p:txBody>
          <a:bodyPr wrap="square">
            <a:spAutoFit/>
          </a:bodyPr>
          <a:lstStyle/>
          <a:p>
            <a:pPr algn="l">
              <a:defRPr sz="1500" b="0">
                <a:solidFill>
                  <a:srgbClr val="334155"/>
                </a:solidFill>
                <a:latin typeface="Segoe UI"/>
              </a:defRPr>
            </a:pPr>
            <a:r>
              <a:t>After removing duplicates, the subgraph is already a tree.</a:t>
            </a:r>
          </a:p>
          <a:p>
            <a:pPr algn="l">
              <a:spcBef>
                <a:spcPts val="300"/>
              </a:spcBef>
              <a:spcAft>
                <a:spcPts val="200"/>
              </a:spcAft>
              <a:defRPr sz="1500" b="1">
                <a:solidFill>
                  <a:srgbClr val="16A34A"/>
                </a:solidFill>
                <a:latin typeface="Segoe UI"/>
              </a:defRPr>
            </a:pPr>
            <a:r>
              <a:t>T = {a-b(3), b-c(2), b-d(4)}    cost(T) = 3 + 2 + 4 = 9  ≤  11 = cost'(T')  ✓</a:t>
            </a:r>
          </a:p>
        </p:txBody>
      </p:sp>
      <p:pic>
        <p:nvPicPr>
          <p:cNvPr id="4" name="Picture 3" descr="image.png"/>
          <p:cNvPicPr>
            <a:picLocks noChangeAspect="1"/>
          </p:cNvPicPr>
          <p:nvPr/>
        </p:nvPicPr>
        <p:blipFill>
          <a:blip r:embed="rId2"/>
          <a:stretch>
            <a:fillRect/>
          </a:stretch>
        </p:blipFill>
        <p:spPr>
          <a:xfrm>
            <a:off x="4001078" y="2011680"/>
            <a:ext cx="4189539" cy="3657600"/>
          </a:xfrm>
          <a:prstGeom prst="rect">
            <a:avLst/>
          </a:prstGeom>
        </p:spPr>
      </p:pic>
      <p:sp>
        <p:nvSpPr>
          <p:cNvPr id="5" name="Rounded Rectangle 4"/>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“Clearly, in this subgraph, all the required vertices are connected. However, this subgraph may, in general, contain cycles. If so, remove edges to obtain tree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Conclusion — Factor-Preserving Reduction</a:t>
            </a:r>
          </a:p>
        </p:txBody>
      </p:sp>
      <p:pic>
        <p:nvPicPr>
          <p:cNvPr id="3" name="Picture 2" descr="image.png"/>
          <p:cNvPicPr>
            <a:picLocks noChangeAspect="1"/>
          </p:cNvPicPr>
          <p:nvPr/>
        </p:nvPicPr>
        <p:blipFill>
          <a:blip r:embed="rId2"/>
          <a:stretch>
            <a:fillRect/>
          </a:stretch>
        </p:blipFill>
        <p:spPr>
          <a:xfrm>
            <a:off x="1523847" y="914400"/>
            <a:ext cx="9144000" cy="4342374"/>
          </a:xfrm>
          <a:prstGeom prst="rect">
            <a:avLst/>
          </a:prstGeom>
        </p:spPr>
      </p:pic>
      <p:sp>
        <p:nvSpPr>
          <p:cNvPr id="4" name="Rounded Rectangle 3"/>
          <p:cNvSpPr/>
          <p:nvPr/>
        </p:nvSpPr>
        <p:spPr>
          <a:xfrm>
            <a:off x="274320" y="608076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126480"/>
            <a:ext cx="11338560" cy="548640"/>
          </a:xfrm>
          <a:prstGeom prst="rect">
            <a:avLst/>
          </a:prstGeom>
          <a:noFill/>
        </p:spPr>
        <p:txBody>
          <a:bodyPr wrap="square">
            <a:spAutoFit/>
          </a:bodyPr>
          <a:lstStyle/>
          <a:p>
            <a:pPr>
              <a:defRPr sz="900" i="1">
                <a:solidFill>
                  <a:srgbClr val="64748B"/>
                </a:solidFill>
                <a:latin typeface="Segoe UI"/>
              </a:defRPr>
            </a:pPr>
            <a:r>
              <a:t>📖 Vazirani:  “This completes the approximation factor preserving reduction.”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600" b="1">
                <a:solidFill>
                  <a:srgbClr val="0F172A"/>
                </a:solidFill>
                <a:latin typeface="Segoe UI"/>
              </a:defRPr>
            </a:pPr>
            <a:r>
              <a:t>Theorem 3.2 — Numerical Verification</a:t>
            </a:r>
          </a:p>
        </p:txBody>
      </p:sp>
      <p:sp>
        <p:nvSpPr>
          <p:cNvPr id="3" name="Rounded Rectangle 2"/>
          <p:cNvSpPr/>
          <p:nvPr/>
        </p:nvSpPr>
        <p:spPr>
          <a:xfrm>
            <a:off x="457200" y="1097280"/>
            <a:ext cx="5486400" cy="384048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5029200" cy="3474720"/>
          </a:xfrm>
          <a:prstGeom prst="rect">
            <a:avLst/>
          </a:prstGeom>
          <a:noFill/>
        </p:spPr>
        <p:txBody>
          <a:bodyPr wrap="square">
            <a:spAutoFit/>
          </a:bodyPr>
          <a:lstStyle/>
          <a:p>
            <a:pPr algn="l">
              <a:defRPr sz="1800" b="1">
                <a:solidFill>
                  <a:srgbClr val="16A34A"/>
                </a:solidFill>
                <a:latin typeface="Segoe UI"/>
              </a:defRPr>
            </a:pPr>
            <a:r>
              <a:t>Numerical Verification</a:t>
            </a:r>
          </a:p>
          <a:p>
            <a:pPr algn="l">
              <a:spcBef>
                <a:spcPts val="300"/>
              </a:spcBef>
              <a:spcAft>
                <a:spcPts val="200"/>
              </a:spcAft>
              <a:defRPr sz="400" b="0">
                <a:solidFill>
                  <a:srgbClr val="334155"/>
                </a:solidFill>
                <a:latin typeface="Segoe UI"/>
              </a:defRPr>
            </a:pPr>
          </a:p>
          <a:p>
            <a:pPr algn="l">
              <a:spcBef>
                <a:spcPts val="300"/>
              </a:spcBef>
              <a:spcAft>
                <a:spcPts val="200"/>
              </a:spcAft>
              <a:defRPr sz="1400" b="1">
                <a:solidFill>
                  <a:srgbClr val="2563EB"/>
                </a:solidFill>
                <a:latin typeface="Segoe UI"/>
              </a:defRPr>
            </a:pPr>
            <a:r>
              <a:t>OPT(I) in G:</a:t>
            </a:r>
          </a:p>
          <a:p>
            <a:pPr algn="l">
              <a:spcBef>
                <a:spcPts val="300"/>
              </a:spcBef>
              <a:spcAft>
                <a:spcPts val="200"/>
              </a:spcAft>
              <a:defRPr sz="1200" b="0">
                <a:solidFill>
                  <a:srgbClr val="334155"/>
                </a:solidFill>
                <a:latin typeface="Segoe UI"/>
              </a:defRPr>
            </a:pPr>
            <a:r>
              <a:t>tree {a-b(3), b-c(2), b-d(4)}, cost = 9</a:t>
            </a:r>
          </a:p>
          <a:p>
            <a:pPr algn="l">
              <a:spcBef>
                <a:spcPts val="300"/>
              </a:spcBef>
              <a:spcAft>
                <a:spcPts val="200"/>
              </a:spcAft>
              <a:defRPr sz="400" b="0">
                <a:solidFill>
                  <a:srgbClr val="334155"/>
                </a:solidFill>
                <a:latin typeface="Segoe UI"/>
              </a:defRPr>
            </a:pPr>
          </a:p>
          <a:p>
            <a:pPr algn="l">
              <a:spcBef>
                <a:spcPts val="300"/>
              </a:spcBef>
              <a:spcAft>
                <a:spcPts val="200"/>
              </a:spcAft>
              <a:defRPr sz="1400" b="1">
                <a:solidFill>
                  <a:srgbClr val="16A34A"/>
                </a:solidFill>
                <a:latin typeface="Segoe UI"/>
              </a:defRPr>
            </a:pPr>
            <a:r>
              <a:t>OPT(I') in G':</a:t>
            </a:r>
          </a:p>
          <a:p>
            <a:pPr algn="l">
              <a:spcBef>
                <a:spcPts val="300"/>
              </a:spcBef>
              <a:spcAft>
                <a:spcPts val="200"/>
              </a:spcAft>
              <a:defRPr sz="1200" b="0">
                <a:solidFill>
                  <a:srgbClr val="334155"/>
                </a:solidFill>
                <a:latin typeface="Segoe UI"/>
              </a:defRPr>
            </a:pPr>
            <a:r>
              <a:t>same tree with cost' = 9 ≤ 9  ✓</a:t>
            </a:r>
          </a:p>
          <a:p>
            <a:pPr algn="l">
              <a:spcBef>
                <a:spcPts val="300"/>
              </a:spcBef>
              <a:spcAft>
                <a:spcPts val="200"/>
              </a:spcAft>
              <a:defRPr sz="400" b="0">
                <a:solidFill>
                  <a:srgbClr val="334155"/>
                </a:solidFill>
                <a:latin typeface="Segoe UI"/>
              </a:defRPr>
            </a:pPr>
          </a:p>
          <a:p>
            <a:pPr algn="l">
              <a:spcBef>
                <a:spcPts val="300"/>
              </a:spcBef>
              <a:spcAft>
                <a:spcPts val="200"/>
              </a:spcAft>
              <a:defRPr sz="1400" b="1">
                <a:solidFill>
                  <a:srgbClr val="DC2626"/>
                </a:solidFill>
                <a:latin typeface="Segoe UI"/>
              </a:defRPr>
            </a:pPr>
            <a:r>
              <a:t>Approx T' in G':</a:t>
            </a:r>
          </a:p>
          <a:p>
            <a:pPr algn="l">
              <a:spcBef>
                <a:spcPts val="300"/>
              </a:spcBef>
              <a:spcAft>
                <a:spcPts val="200"/>
              </a:spcAft>
              <a:defRPr sz="1200" b="0">
                <a:solidFill>
                  <a:srgbClr val="334155"/>
                </a:solidFill>
                <a:latin typeface="Segoe UI"/>
              </a:defRPr>
            </a:pPr>
            <a:r>
              <a:t>{a-c(5), c-d(6)}, cost' = 11</a:t>
            </a:r>
          </a:p>
          <a:p>
            <a:pPr algn="l">
              <a:spcBef>
                <a:spcPts val="300"/>
              </a:spcBef>
              <a:spcAft>
                <a:spcPts val="200"/>
              </a:spcAft>
              <a:defRPr sz="400" b="0">
                <a:solidFill>
                  <a:srgbClr val="334155"/>
                </a:solidFill>
                <a:latin typeface="Segoe UI"/>
              </a:defRPr>
            </a:pPr>
          </a:p>
          <a:p>
            <a:pPr algn="l">
              <a:spcBef>
                <a:spcPts val="300"/>
              </a:spcBef>
              <a:spcAft>
                <a:spcPts val="200"/>
              </a:spcAft>
              <a:defRPr sz="1400" b="1">
                <a:solidFill>
                  <a:srgbClr val="16A34A"/>
                </a:solidFill>
                <a:latin typeface="Segoe UI"/>
              </a:defRPr>
            </a:pPr>
            <a:r>
              <a:t>Map back T in G:</a:t>
            </a:r>
          </a:p>
          <a:p>
            <a:pPr algn="l">
              <a:spcBef>
                <a:spcPts val="300"/>
              </a:spcBef>
              <a:spcAft>
                <a:spcPts val="200"/>
              </a:spcAft>
              <a:defRPr sz="1200" b="0">
                <a:solidFill>
                  <a:srgbClr val="334155"/>
                </a:solidFill>
                <a:latin typeface="Segoe UI"/>
              </a:defRPr>
            </a:pPr>
            <a:r>
              <a:t>{a-b, b-c, b-d}, cost = 9 ≤ 11  ✓</a:t>
            </a:r>
          </a:p>
        </p:txBody>
      </p:sp>
      <p:sp>
        <p:nvSpPr>
          <p:cNvPr id="5" name="Rounded Rectangle 4"/>
          <p:cNvSpPr/>
          <p:nvPr/>
        </p:nvSpPr>
        <p:spPr>
          <a:xfrm>
            <a:off x="6400800" y="1097280"/>
            <a:ext cx="5303520" cy="384048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280160"/>
            <a:ext cx="4846320" cy="3474720"/>
          </a:xfrm>
          <a:prstGeom prst="rect">
            <a:avLst/>
          </a:prstGeom>
          <a:noFill/>
        </p:spPr>
        <p:txBody>
          <a:bodyPr wrap="square">
            <a:spAutoFit/>
          </a:bodyPr>
          <a:lstStyle/>
          <a:p>
            <a:pPr algn="l">
              <a:defRPr sz="2000" b="1">
                <a:solidFill>
                  <a:srgbClr val="7C3AED"/>
                </a:solidFill>
                <a:latin typeface="Segoe UI"/>
              </a:defRPr>
            </a:pPr>
            <a:r>
              <a:t>Theorem 3.2</a:t>
            </a:r>
          </a:p>
          <a:p>
            <a:pPr algn="l">
              <a:spcBef>
                <a:spcPts val="300"/>
              </a:spcBef>
              <a:spcAft>
                <a:spcPts val="200"/>
              </a:spcAft>
              <a:defRPr sz="400" b="0">
                <a:solidFill>
                  <a:srgbClr val="334155"/>
                </a:solidFill>
                <a:latin typeface="Segoe UI"/>
              </a:defRPr>
            </a:pPr>
          </a:p>
          <a:p>
            <a:pPr algn="l">
              <a:spcBef>
                <a:spcPts val="300"/>
              </a:spcBef>
              <a:spcAft>
                <a:spcPts val="200"/>
              </a:spcAft>
              <a:defRPr sz="1300" b="0">
                <a:solidFill>
                  <a:srgbClr val="334155"/>
                </a:solidFill>
                <a:latin typeface="Segoe UI"/>
              </a:defRPr>
            </a:pPr>
            <a:r>
              <a:t>The reduction from the Steiner tree problem</a:t>
            </a:r>
          </a:p>
          <a:p>
            <a:pPr algn="l">
              <a:spcBef>
                <a:spcPts val="300"/>
              </a:spcBef>
              <a:spcAft>
                <a:spcPts val="200"/>
              </a:spcAft>
              <a:defRPr sz="1300" b="0">
                <a:solidFill>
                  <a:srgbClr val="334155"/>
                </a:solidFill>
                <a:latin typeface="Segoe UI"/>
              </a:defRPr>
            </a:pPr>
            <a:r>
              <a:t>to the metric Steiner tree problem is</a:t>
            </a:r>
          </a:p>
          <a:p>
            <a:pPr algn="l">
              <a:spcBef>
                <a:spcPts val="300"/>
              </a:spcBef>
              <a:spcAft>
                <a:spcPts val="200"/>
              </a:spcAft>
              <a:defRPr sz="1300" b="1">
                <a:solidFill>
                  <a:srgbClr val="334155"/>
                </a:solidFill>
                <a:latin typeface="Segoe UI"/>
              </a:defRPr>
            </a:pPr>
            <a:r>
              <a:t>approximation factor preserving.</a:t>
            </a:r>
          </a:p>
          <a:p>
            <a:pPr algn="l">
              <a:spcBef>
                <a:spcPts val="300"/>
              </a:spcBef>
              <a:spcAft>
                <a:spcPts val="200"/>
              </a:spcAft>
              <a:defRPr sz="600" b="0">
                <a:solidFill>
                  <a:srgbClr val="334155"/>
                </a:solidFill>
                <a:latin typeface="Segoe UI"/>
              </a:defRPr>
            </a:pPr>
          </a:p>
          <a:p>
            <a:pPr algn="l">
              <a:spcBef>
                <a:spcPts val="300"/>
              </a:spcBef>
              <a:spcAft>
                <a:spcPts val="200"/>
              </a:spcAft>
              <a:defRPr sz="1500" b="1">
                <a:solidFill>
                  <a:srgbClr val="7C3AED"/>
                </a:solidFill>
                <a:latin typeface="Segoe UI"/>
              </a:defRPr>
            </a:pPr>
            <a:r>
              <a:t>Chain of Inequalities:</a:t>
            </a:r>
          </a:p>
          <a:p>
            <a:pPr algn="ctr">
              <a:spcBef>
                <a:spcPts val="300"/>
              </a:spcBef>
              <a:spcAft>
                <a:spcPts val="200"/>
              </a:spcAft>
              <a:defRPr sz="1400" b="0">
                <a:solidFill>
                  <a:srgbClr val="334155"/>
                </a:solidFill>
                <a:latin typeface="Segoe UI"/>
              </a:defRPr>
            </a:pPr>
            <a:r>
              <a:t>cost(T)</a:t>
            </a:r>
          </a:p>
          <a:p>
            <a:pPr algn="ctr">
              <a:spcBef>
                <a:spcPts val="300"/>
              </a:spcBef>
              <a:spcAft>
                <a:spcPts val="200"/>
              </a:spcAft>
              <a:defRPr sz="1300" b="1">
                <a:solidFill>
                  <a:srgbClr val="16A34A"/>
                </a:solidFill>
                <a:latin typeface="Segoe UI"/>
              </a:defRPr>
            </a:pPr>
            <a:r>
              <a:t>≤  cost'(T')       (mapping back)</a:t>
            </a:r>
          </a:p>
          <a:p>
            <a:pPr algn="ctr">
              <a:spcBef>
                <a:spcPts val="300"/>
              </a:spcBef>
              <a:spcAft>
                <a:spcPts val="200"/>
              </a:spcAft>
              <a:defRPr sz="1300" b="1">
                <a:solidFill>
                  <a:srgbClr val="16A34A"/>
                </a:solidFill>
                <a:latin typeface="Segoe UI"/>
              </a:defRPr>
            </a:pPr>
            <a:r>
              <a:t>≤  α · OPT(I')     (α-approximation)</a:t>
            </a:r>
          </a:p>
          <a:p>
            <a:pPr algn="ctr">
              <a:spcBef>
                <a:spcPts val="300"/>
              </a:spcBef>
              <a:spcAft>
                <a:spcPts val="200"/>
              </a:spcAft>
              <a:defRPr sz="1300" b="1">
                <a:solidFill>
                  <a:srgbClr val="16A34A"/>
                </a:solidFill>
                <a:latin typeface="Segoe UI"/>
              </a:defRPr>
            </a:pPr>
            <a:r>
              <a:t>≤  α · OPT(I)      (lower bound)</a:t>
            </a:r>
          </a:p>
          <a:p>
            <a:pPr algn="l">
              <a:spcBef>
                <a:spcPts val="300"/>
              </a:spcBef>
              <a:spcAft>
                <a:spcPts val="200"/>
              </a:spcAft>
              <a:defRPr sz="600" b="0">
                <a:solidFill>
                  <a:srgbClr val="334155"/>
                </a:solidFill>
                <a:latin typeface="Segoe UI"/>
              </a:defRPr>
            </a:pPr>
          </a:p>
          <a:p>
            <a:pPr algn="ctr">
              <a:spcBef>
                <a:spcPts val="300"/>
              </a:spcBef>
              <a:spcAft>
                <a:spcPts val="200"/>
              </a:spcAft>
              <a:defRPr sz="1500" b="1">
                <a:solidFill>
                  <a:srgbClr val="7C3AED"/>
                </a:solidFill>
                <a:latin typeface="Segoe UI"/>
              </a:defRPr>
            </a:pPr>
            <a:r>
              <a:t>∴  T is an α-approximation for I</a:t>
            </a:r>
          </a:p>
        </p:txBody>
      </p:sp>
      <p:sp>
        <p:nvSpPr>
          <p:cNvPr id="7" name="TextBox 6"/>
          <p:cNvSpPr txBox="1"/>
          <p:nvPr/>
        </p:nvSpPr>
        <p:spPr>
          <a:xfrm>
            <a:off x="457200" y="5120640"/>
            <a:ext cx="10972800" cy="548640"/>
          </a:xfrm>
          <a:prstGeom prst="rect">
            <a:avLst/>
          </a:prstGeom>
          <a:noFill/>
        </p:spPr>
        <p:txBody>
          <a:bodyPr wrap="square">
            <a:spAutoFit/>
          </a:bodyPr>
          <a:lstStyle/>
          <a:p>
            <a:pPr algn="ctr">
              <a:defRPr sz="2200" b="1">
                <a:solidFill>
                  <a:srgbClr val="D97706"/>
                </a:solidFill>
                <a:latin typeface="Segoe UI"/>
              </a:defRPr>
            </a:pPr>
            <a:r>
              <a:t>9  ≤  11  ≤  α · 9  ≤  α · 9</a:t>
            </a:r>
          </a:p>
        </p:txBody>
      </p:sp>
      <p:sp>
        <p:nvSpPr>
          <p:cNvPr id="8" name="TextBox 7"/>
          <p:cNvSpPr txBox="1"/>
          <p:nvPr/>
        </p:nvSpPr>
        <p:spPr>
          <a:xfrm>
            <a:off x="10515600" y="5623560"/>
            <a:ext cx="914400" cy="457200"/>
          </a:xfrm>
          <a:prstGeom prst="rect">
            <a:avLst/>
          </a:prstGeom>
          <a:noFill/>
        </p:spPr>
        <p:txBody>
          <a:bodyPr wrap="square">
            <a:spAutoFit/>
          </a:bodyPr>
          <a:lstStyle/>
          <a:p>
            <a:pPr algn="r">
              <a:defRPr sz="2800" b="0">
                <a:solidFill>
                  <a:srgbClr val="16A34A"/>
                </a:solidFill>
                <a:latin typeface="Segoe UI"/>
              </a:defRPr>
            </a:pPr>
            <a:r>
              <a:t>■</a:t>
            </a:r>
          </a:p>
        </p:txBody>
      </p:sp>
      <p:sp>
        <p:nvSpPr>
          <p:cNvPr id="9" name="Rounded Rectangle 8"/>
          <p:cNvSpPr/>
          <p:nvPr/>
        </p:nvSpPr>
        <p:spPr>
          <a:xfrm>
            <a:off x="274320" y="5989320"/>
            <a:ext cx="11612880" cy="640080"/>
          </a:xfrm>
          <a:prstGeom prst="round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035040"/>
            <a:ext cx="11338560" cy="548640"/>
          </a:xfrm>
          <a:prstGeom prst="rect">
            <a:avLst/>
          </a:prstGeom>
          <a:noFill/>
        </p:spPr>
        <p:txBody>
          <a:bodyPr wrap="square">
            <a:spAutoFit/>
          </a:bodyPr>
          <a:lstStyle/>
          <a:p>
            <a:pPr>
              <a:defRPr sz="900" i="1">
                <a:solidFill>
                  <a:srgbClr val="64748B"/>
                </a:solidFill>
                <a:latin typeface="Segoe UI"/>
              </a:defRPr>
            </a:pPr>
            <a:r>
              <a:t>📖 Vazirani:  “As a consequence of Theorem 3.2, any approximation factor established for the metric Steiner tree problem carries over to the entire Steiner tree problem.”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