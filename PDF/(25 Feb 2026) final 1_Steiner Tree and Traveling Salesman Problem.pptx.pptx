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4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18288000" cy="10287000"/>
  <p:notesSz cx="6858000" cy="9144000"/>
  <p:embeddedFontLst>
    <p:embeddedFont>
      <p:font typeface="Times New Roman Bold" charset="1" panose="02020803070505020304"/>
      <p:regular r:id="rId43"/>
    </p:embeddedFont>
    <p:embeddedFont>
      <p:font typeface="Times New Roman" charset="1" panose="02020603050405020304"/>
      <p:regular r:id="rId44"/>
    </p:embeddedFont>
    <p:embeddedFont>
      <p:font typeface="Canva Sans" charset="1" panose="020B0503030501040103"/>
      <p:regular r:id="rId46"/>
    </p:embeddedFont>
    <p:embeddedFont>
      <p:font typeface="Cambria" charset="1" panose="02040503050406030204"/>
      <p:regular r:id="rId50"/>
    </p:embeddedFont>
    <p:embeddedFont>
      <p:font typeface="Cambria Italics" charset="1" panose="020405030504060A0204"/>
      <p:regular r:id="rId51"/>
    </p:embeddedFont>
    <p:embeddedFont>
      <p:font typeface="Times New Roman Italics" charset="1" panose="02020503050405090304"/>
      <p:regular r:id="rId70"/>
    </p:embeddedFont>
    <p:embeddedFont>
      <p:font typeface="Merriweather Bold" charset="1" panose="00000800000000000000"/>
      <p:regular r:id="rId81"/>
    </p:embeddedFont>
    <p:embeddedFont>
      <p:font typeface="Open Sans" charset="1" panose="00000000000000000000"/>
      <p:regular r:id="rId8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notesMasters/notesMaster1.xml" Type="http://schemas.openxmlformats.org/officeDocument/2006/relationships/notesMaster"/><Relationship Id="rId41" Target="theme/theme2.xml" Type="http://schemas.openxmlformats.org/officeDocument/2006/relationships/theme"/><Relationship Id="rId42" Target="notesSlides/notesSlide1.xml" Type="http://schemas.openxmlformats.org/officeDocument/2006/relationships/notesSlide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notesSlides/notesSlide2.xml" Type="http://schemas.openxmlformats.org/officeDocument/2006/relationships/notesSlide"/><Relationship Id="rId46" Target="fonts/font46.fntdata" Type="http://schemas.openxmlformats.org/officeDocument/2006/relationships/font"/><Relationship Id="rId47" Target="notesSlides/notesSlide3.xml" Type="http://schemas.openxmlformats.org/officeDocument/2006/relationships/notesSlide"/><Relationship Id="rId48" Target="notesSlides/notesSlide4.xml" Type="http://schemas.openxmlformats.org/officeDocument/2006/relationships/notesSlide"/><Relationship Id="rId49" Target="notesSlides/notesSlide5.xml" Type="http://schemas.openxmlformats.org/officeDocument/2006/relationships/notesSlide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notesSlides/notesSlide6.xml" Type="http://schemas.openxmlformats.org/officeDocument/2006/relationships/notesSlide"/><Relationship Id="rId53" Target="notesSlides/notesSlide7.xml" Type="http://schemas.openxmlformats.org/officeDocument/2006/relationships/notesSlide"/><Relationship Id="rId54" Target="notesSlides/notesSlide8.xml" Type="http://schemas.openxmlformats.org/officeDocument/2006/relationships/notesSlide"/><Relationship Id="rId55" Target="notesSlides/notesSlide9.xml" Type="http://schemas.openxmlformats.org/officeDocument/2006/relationships/notesSlide"/><Relationship Id="rId56" Target="notesSlides/notesSlide10.xml" Type="http://schemas.openxmlformats.org/officeDocument/2006/relationships/notesSlide"/><Relationship Id="rId57" Target="notesSlides/notesSlide11.xml" Type="http://schemas.openxmlformats.org/officeDocument/2006/relationships/notesSlide"/><Relationship Id="rId58" Target="notesSlides/notesSlide12.xml" Type="http://schemas.openxmlformats.org/officeDocument/2006/relationships/notesSlide"/><Relationship Id="rId59" Target="notesSlides/notesSlide13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14.xml" Type="http://schemas.openxmlformats.org/officeDocument/2006/relationships/notesSlide"/><Relationship Id="rId61" Target="notesSlides/notesSlide15.xml" Type="http://schemas.openxmlformats.org/officeDocument/2006/relationships/notesSlide"/><Relationship Id="rId62" Target="notesSlides/notesSlide16.xml" Type="http://schemas.openxmlformats.org/officeDocument/2006/relationships/notesSlide"/><Relationship Id="rId63" Target="notesSlides/notesSlide17.xml" Type="http://schemas.openxmlformats.org/officeDocument/2006/relationships/notesSlide"/><Relationship Id="rId64" Target="notesSlides/notesSlide18.xml" Type="http://schemas.openxmlformats.org/officeDocument/2006/relationships/notesSlide"/><Relationship Id="rId65" Target="notesSlides/notesSlide19.xml" Type="http://schemas.openxmlformats.org/officeDocument/2006/relationships/notesSlide"/><Relationship Id="rId66" Target="notesSlides/notesSlide20.xml" Type="http://schemas.openxmlformats.org/officeDocument/2006/relationships/notesSlide"/><Relationship Id="rId67" Target="notesSlides/notesSlide21.xml" Type="http://schemas.openxmlformats.org/officeDocument/2006/relationships/notesSlide"/><Relationship Id="rId68" Target="notesSlides/notesSlide22.xml" Type="http://schemas.openxmlformats.org/officeDocument/2006/relationships/notesSlide"/><Relationship Id="rId69" Target="notesSlides/notesSlide23.xml" Type="http://schemas.openxmlformats.org/officeDocument/2006/relationships/notesSlide"/><Relationship Id="rId7" Target="slides/slide2.xml" Type="http://schemas.openxmlformats.org/officeDocument/2006/relationships/slide"/><Relationship Id="rId70" Target="fonts/font70.fntdata" Type="http://schemas.openxmlformats.org/officeDocument/2006/relationships/font"/><Relationship Id="rId71" Target="notesSlides/notesSlide24.xml" Type="http://schemas.openxmlformats.org/officeDocument/2006/relationships/notesSlide"/><Relationship Id="rId72" Target="notesSlides/notesSlide25.xml" Type="http://schemas.openxmlformats.org/officeDocument/2006/relationships/notesSlide"/><Relationship Id="rId73" Target="notesSlides/notesSlide26.xml" Type="http://schemas.openxmlformats.org/officeDocument/2006/relationships/notesSlide"/><Relationship Id="rId74" Target="notesSlides/notesSlide27.xml" Type="http://schemas.openxmlformats.org/officeDocument/2006/relationships/notesSlide"/><Relationship Id="rId75" Target="notesSlides/notesSlide28.xml" Type="http://schemas.openxmlformats.org/officeDocument/2006/relationships/notesSlide"/><Relationship Id="rId76" Target="notesSlides/notesSlide29.xml" Type="http://schemas.openxmlformats.org/officeDocument/2006/relationships/notesSlide"/><Relationship Id="rId77" Target="notesSlides/notesSlide30.xml" Type="http://schemas.openxmlformats.org/officeDocument/2006/relationships/notesSlide"/><Relationship Id="rId78" Target="notesSlides/notesSlide31.xml" Type="http://schemas.openxmlformats.org/officeDocument/2006/relationships/notesSlide"/><Relationship Id="rId79" Target="notesSlides/notesSlide32.xml" Type="http://schemas.openxmlformats.org/officeDocument/2006/relationships/notesSlide"/><Relationship Id="rId8" Target="slides/slide3.xml" Type="http://schemas.openxmlformats.org/officeDocument/2006/relationships/slide"/><Relationship Id="rId80" Target="notesSlides/notesSlide33.xml" Type="http://schemas.openxmlformats.org/officeDocument/2006/relationships/notesSlide"/><Relationship Id="rId81" Target="fonts/font81.fntdata" Type="http://schemas.openxmlformats.org/officeDocument/2006/relationships/font"/><Relationship Id="rId82" Target="fonts/font82.fntdata" Type="http://schemas.openxmlformats.org/officeDocument/2006/relationships/font"/><Relationship Id="rId83" Target="notesSlides/notesSlide34.xml" Type="http://schemas.openxmlformats.org/officeDocument/2006/relationships/notes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3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1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1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1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1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1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1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Relationship Id="rId3" Target="../media/image1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9.xml" Type="http://schemas.openxmlformats.org/officeDocument/2006/relationships/notesSlide"/><Relationship Id="rId3" Target="../media/image1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0.xml" Type="http://schemas.openxmlformats.org/officeDocument/2006/relationships/notesSlide"/><Relationship Id="rId3" Target="../media/image1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1.xml" Type="http://schemas.openxmlformats.org/officeDocument/2006/relationships/notesSlide"/><Relationship Id="rId3" Target="../media/image1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2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3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4.xml" Type="http://schemas.openxmlformats.org/officeDocument/2006/relationships/notesSlid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310641" y="2562225"/>
            <a:ext cx="13666708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b="true" sz="72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Steiner Tree and</a:t>
            </a:r>
          </a:p>
          <a:p>
            <a:pPr algn="ctr">
              <a:lnSpc>
                <a:spcPts val="8640"/>
              </a:lnSpc>
            </a:pPr>
            <a:r>
              <a:rPr lang="en-US" b="true" sz="72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Traveling Salesman Problem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36044" y="5286375"/>
            <a:ext cx="13015912" cy="725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2250">
                <a:solidFill>
                  <a:srgbClr val="33415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Master in Digital Technology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36044" y="6029325"/>
            <a:ext cx="13015912" cy="725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ID: 603927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36044" y="6772275"/>
            <a:ext cx="13015912" cy="725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Clausthal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5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71538" y="2615641"/>
            <a:ext cx="596614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b="true" sz="38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Study These Problems?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501188" y="2929966"/>
            <a:ext cx="7915275" cy="5715000"/>
            <a:chOff x="0" y="0"/>
            <a:chExt cx="10553700" cy="7620000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105537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553700">
                  <a:moveTo>
                    <a:pt x="0" y="0"/>
                  </a:moveTo>
                  <a:lnTo>
                    <a:pt x="10553700" y="0"/>
                  </a:lnTo>
                  <a:lnTo>
                    <a:pt x="105537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8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71538" y="842963"/>
            <a:ext cx="17372171" cy="859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Motivation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71538" y="1943100"/>
            <a:ext cx="16544925" cy="42862"/>
            <a:chOff x="0" y="0"/>
            <a:chExt cx="22059900" cy="57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059900" cy="57150"/>
            </a:xfrm>
            <a:custGeom>
              <a:avLst/>
              <a:gdLst/>
              <a:ahLst/>
              <a:cxnLst/>
              <a:rect r="r" b="b" t="t" l="l"/>
              <a:pathLst>
                <a:path h="5715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CC0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71537" y="3572738"/>
            <a:ext cx="7989552" cy="542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Many real-worl</a:t>
            </a:r>
            <a:r>
              <a:rPr lang="en-US" sz="240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d problems require connecting locations at minimum cost</a:t>
            </a:r>
          </a:p>
          <a:p>
            <a:pPr algn="l" marL="1036330" indent="-345443" lvl="2">
              <a:lnSpc>
                <a:spcPts val="3360"/>
              </a:lnSpc>
              <a:buFont typeface="Arial"/>
              <a:buChar char="⚬"/>
            </a:pPr>
            <a:r>
              <a:rPr lang="en-US" sz="240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Examples:</a:t>
            </a:r>
          </a:p>
          <a:p>
            <a:pPr algn="l" marL="1554495" indent="-388624" lvl="3">
              <a:lnSpc>
                <a:spcPts val="3360"/>
              </a:lnSpc>
              <a:buFont typeface="Arial"/>
              <a:buChar char="￭"/>
            </a:pPr>
            <a:r>
              <a:rPr lang="en-US" sz="240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Network design (fiber, internet, roads)</a:t>
            </a:r>
          </a:p>
          <a:p>
            <a:pPr algn="l" marL="1554495" indent="-388624" lvl="3">
              <a:lnSpc>
                <a:spcPts val="3360"/>
              </a:lnSpc>
              <a:buFont typeface="Arial"/>
              <a:buChar char="￭"/>
            </a:pPr>
            <a:r>
              <a:rPr lang="en-US" sz="240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VLSI chip wiring</a:t>
            </a:r>
          </a:p>
          <a:p>
            <a:pPr algn="l" marL="1554495" indent="-388624" lvl="3">
              <a:lnSpc>
                <a:spcPts val="3360"/>
              </a:lnSpc>
              <a:buFont typeface="Arial"/>
              <a:buChar char="￭"/>
            </a:pPr>
            <a:r>
              <a:rPr lang="en-US" sz="240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Biological phylogenetic trees</a:t>
            </a:r>
          </a:p>
          <a:p>
            <a:pPr algn="l" marL="1554495" indent="-388624" lvl="3">
              <a:lnSpc>
                <a:spcPts val="3360"/>
              </a:lnSpc>
              <a:buFont typeface="Arial"/>
              <a:buChar char="￭"/>
            </a:pPr>
            <a:r>
              <a:rPr lang="en-US" sz="240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Logistics and route planning</a:t>
            </a:r>
          </a:p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Two fundamental questions arise:</a:t>
            </a:r>
          </a:p>
          <a:p>
            <a:pPr algn="l" marL="1036330" indent="-345443" lvl="2">
              <a:lnSpc>
                <a:spcPts val="3360"/>
              </a:lnSpc>
              <a:buFont typeface="Arial"/>
              <a:buChar char="⚬"/>
            </a:pPr>
            <a:r>
              <a:rPr lang="en-US" sz="240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How to connect points cheaply? (Steiner Tree)</a:t>
            </a:r>
          </a:p>
          <a:p>
            <a:pPr algn="l" marL="1036330" indent="-345443" lvl="2">
              <a:lnSpc>
                <a:spcPts val="3360"/>
              </a:lnSpc>
              <a:buFont typeface="Arial"/>
              <a:buChar char="⚬"/>
            </a:pPr>
            <a:r>
              <a:rPr lang="en-US" sz="240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How to visit all points efficiently? (TSP)</a:t>
            </a:r>
          </a:p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Exact solutions are computationally infeasible</a:t>
            </a:r>
          </a:p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We therefore study approximation algorithms</a:t>
            </a:r>
          </a:p>
          <a:p>
            <a:pPr algn="l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5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1538" y="1943100"/>
            <a:ext cx="16544925" cy="42862"/>
            <a:chOff x="0" y="0"/>
            <a:chExt cx="22059900" cy="57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59900" cy="57150"/>
            </a:xfrm>
            <a:custGeom>
              <a:avLst/>
              <a:gdLst/>
              <a:ahLst/>
              <a:cxnLst/>
              <a:rect r="r" b="b" t="t" l="l"/>
              <a:pathLst>
                <a:path h="5715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CC0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1537" y="842963"/>
            <a:ext cx="7810748" cy="8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City Connections Example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26727" y="2929966"/>
            <a:ext cx="15632573" cy="7530426"/>
            <a:chOff x="0" y="0"/>
            <a:chExt cx="28473340" cy="1371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473341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8473341">
                  <a:moveTo>
                    <a:pt x="0" y="0"/>
                  </a:moveTo>
                  <a:lnTo>
                    <a:pt x="28473341" y="0"/>
                  </a:lnTo>
                  <a:lnTo>
                    <a:pt x="28473341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346" t="0" r="-7346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71538" y="2615641"/>
            <a:ext cx="5226658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b="true" sz="38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Cities connecting directly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47267" y="2615641"/>
            <a:ext cx="623329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b="true" sz="38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Cities connected with junction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13059" y="3408607"/>
            <a:ext cx="15061882" cy="1432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b="true" sz="90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Steiner Tree Problem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779169" y="5365994"/>
            <a:ext cx="8729662" cy="1162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12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terminals with minimum cost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85697" y="4911037"/>
            <a:ext cx="8830766" cy="2663584"/>
            <a:chOff x="0" y="0"/>
            <a:chExt cx="45786684" cy="13810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786684" cy="13810431"/>
            </a:xfrm>
            <a:custGeom>
              <a:avLst/>
              <a:gdLst/>
              <a:ahLst/>
              <a:cxnLst/>
              <a:rect r="r" b="b" t="t" l="l"/>
              <a:pathLst>
                <a:path h="13810431" w="45786684">
                  <a:moveTo>
                    <a:pt x="0" y="0"/>
                  </a:moveTo>
                  <a:lnTo>
                    <a:pt x="45786684" y="0"/>
                  </a:lnTo>
                  <a:lnTo>
                    <a:pt x="45786684" y="13810431"/>
                  </a:lnTo>
                  <a:lnTo>
                    <a:pt x="0" y="138104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80" r="0" b="-38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1538" y="1943100"/>
            <a:ext cx="16544925" cy="42862"/>
            <a:chOff x="0" y="0"/>
            <a:chExt cx="22059900" cy="57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59900" cy="57150"/>
            </a:xfrm>
            <a:custGeom>
              <a:avLst/>
              <a:gdLst/>
              <a:ahLst/>
              <a:cxnLst/>
              <a:rect r="r" b="b" t="t" l="l"/>
              <a:pathLst>
                <a:path h="5715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CC0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1538" y="2205038"/>
            <a:ext cx="8311039" cy="503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Concept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1538" y="2765984"/>
            <a:ext cx="7049102" cy="751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2400">
                <a:solidFill>
                  <a:srgbClr val="4F46E5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lang="en-US" sz="2400">
                <a:solidFill>
                  <a:srgbClr val="4F46E5"/>
                </a:solidFill>
                <a:latin typeface="Cambria"/>
                <a:ea typeface="Cambria"/>
                <a:cs typeface="Cambria"/>
                <a:sym typeface="Cambria"/>
              </a:rPr>
              <a:t>iven:</a:t>
            </a:r>
          </a:p>
          <a:p>
            <a:pPr algn="l" marL="518160" indent="-259080" lvl="1">
              <a:lnSpc>
                <a:spcPts val="460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An undirected graph</a:t>
            </a:r>
          </a:p>
          <a:p>
            <a:pPr algn="l" marL="1036320" indent="-345440" lvl="2">
              <a:lnSpc>
                <a:spcPts val="4608"/>
              </a:lnSpc>
              <a:buFont typeface="Arial"/>
              <a:buChar char="⚬"/>
            </a:pPr>
            <a:r>
              <a:rPr lang="en-US" sz="2400" i="true">
                <a:solidFill>
                  <a:srgbClr val="000000"/>
                </a:solidFill>
                <a:latin typeface="Cambria Italics"/>
                <a:ea typeface="Cambria Italics"/>
                <a:cs typeface="Cambria Italics"/>
                <a:sym typeface="Cambria Italics"/>
              </a:rPr>
              <a:t>G = ( V , E )</a:t>
            </a:r>
          </a:p>
          <a:p>
            <a:pPr algn="l" marL="518160" indent="-259080" lvl="1">
              <a:lnSpc>
                <a:spcPts val="460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Each edge has a non-negative cost</a:t>
            </a:r>
          </a:p>
          <a:p>
            <a:pPr algn="l" marL="518160" indent="-259080" lvl="1">
              <a:lnSpc>
                <a:spcPts val="460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Vertices are split into two groups:</a:t>
            </a:r>
          </a:p>
          <a:p>
            <a:pPr algn="l" marL="1036320" indent="-345440" lvl="2">
              <a:lnSpc>
                <a:spcPts val="4608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Required vertices (terminals)</a:t>
            </a:r>
          </a:p>
          <a:p>
            <a:pPr algn="l" marL="1036320" indent="-345440" lvl="2">
              <a:lnSpc>
                <a:spcPts val="4608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Steiner vertices (optional)</a:t>
            </a:r>
          </a:p>
          <a:p>
            <a:pPr algn="l">
              <a:lnSpc>
                <a:spcPts val="4608"/>
              </a:lnSpc>
            </a:pPr>
            <a:r>
              <a:rPr lang="en-US" sz="2400">
                <a:solidFill>
                  <a:srgbClr val="4F46E5"/>
                </a:solidFill>
                <a:latin typeface="Cambria"/>
                <a:ea typeface="Cambria"/>
                <a:cs typeface="Cambria"/>
                <a:sym typeface="Cambria"/>
              </a:rPr>
              <a:t>Objective:</a:t>
            </a:r>
          </a:p>
          <a:p>
            <a:pPr algn="l" marL="518160" indent="-259080" lvl="1">
              <a:lnSpc>
                <a:spcPts val="460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Find a minimum-cost tree that:</a:t>
            </a:r>
          </a:p>
          <a:p>
            <a:pPr algn="l" marL="1036320" indent="-345440" lvl="2">
              <a:lnSpc>
                <a:spcPts val="4608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Contains all required vertices</a:t>
            </a:r>
          </a:p>
          <a:p>
            <a:pPr algn="l" marL="1036320" indent="-345440" lvl="2">
              <a:lnSpc>
                <a:spcPts val="4608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May contain any subset of Steiner vertices</a:t>
            </a:r>
          </a:p>
          <a:p>
            <a:pPr algn="l">
              <a:lnSpc>
                <a:spcPts val="4608"/>
              </a:lnSpc>
            </a:pPr>
          </a:p>
          <a:p>
            <a:pPr algn="l">
              <a:lnSpc>
                <a:spcPts val="4608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62012" y="842963"/>
            <a:ext cx="10227097" cy="84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Block 1: </a:t>
            </a:r>
            <a:r>
              <a:rPr lang="en-US" b="true" sz="54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3.1(Steiner Tree)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13217" y="3399163"/>
            <a:ext cx="854608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Diagram: Showing : input graph and Steiner Tree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1538" y="1943100"/>
            <a:ext cx="16544925" cy="42862"/>
            <a:chOff x="0" y="0"/>
            <a:chExt cx="22059900" cy="571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059900" cy="57150"/>
            </a:xfrm>
            <a:custGeom>
              <a:avLst/>
              <a:gdLst/>
              <a:ahLst/>
              <a:cxnLst/>
              <a:rect r="r" b="b" t="t" l="l"/>
              <a:pathLst>
                <a:path h="5715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CC0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71538" y="2205038"/>
            <a:ext cx="8311039" cy="503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Concept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1538" y="2765984"/>
            <a:ext cx="7049102" cy="4609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2400">
                <a:solidFill>
                  <a:srgbClr val="4F46E5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lang="en-US" sz="2400">
                <a:solidFill>
                  <a:srgbClr val="4F46E5"/>
                </a:solidFill>
                <a:latin typeface="Cambria"/>
                <a:ea typeface="Cambria"/>
                <a:cs typeface="Cambria"/>
                <a:sym typeface="Cambria"/>
              </a:rPr>
              <a:t>iven:</a:t>
            </a:r>
          </a:p>
          <a:p>
            <a:pPr algn="l" marL="518160" indent="-259080" lvl="1">
              <a:lnSpc>
                <a:spcPts val="460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We focus on the Metric Case.</a:t>
            </a:r>
          </a:p>
          <a:p>
            <a:pPr algn="l" marL="518160" indent="-259080" lvl="1">
              <a:lnSpc>
                <a:spcPts val="460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Costs are non-negative.</a:t>
            </a:r>
          </a:p>
          <a:p>
            <a:pPr algn="l" marL="518160" indent="-259080" lvl="1">
              <a:lnSpc>
                <a:spcPts val="460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graph is complete.</a:t>
            </a:r>
          </a:p>
          <a:p>
            <a:pPr algn="l" marL="518160" indent="-259080" lvl="1">
              <a:lnSpc>
                <a:spcPts val="460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Crucial Rule: Triangle Inequality holds.</a:t>
            </a:r>
          </a:p>
          <a:p>
            <a:pPr algn="l">
              <a:lnSpc>
                <a:spcPts val="4608"/>
              </a:lnSpc>
            </a:pPr>
          </a:p>
          <a:p>
            <a:pPr algn="l">
              <a:lnSpc>
                <a:spcPts val="4608"/>
              </a:lnSpc>
            </a:pPr>
          </a:p>
          <a:p>
            <a:pPr algn="l">
              <a:lnSpc>
                <a:spcPts val="4608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62012" y="842963"/>
            <a:ext cx="8378651" cy="84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Block 1: Metric Steiner Tree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13217" y="3399163"/>
            <a:ext cx="957478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Simple Triangle u,v,w show direct path u to v is shorter than going u - w to v.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01188" y="4850240"/>
            <a:ext cx="5531306" cy="3993723"/>
            <a:chOff x="0" y="0"/>
            <a:chExt cx="10553700" cy="76200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5537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553700">
                  <a:moveTo>
                    <a:pt x="0" y="0"/>
                  </a:moveTo>
                  <a:lnTo>
                    <a:pt x="10553700" y="0"/>
                  </a:lnTo>
                  <a:lnTo>
                    <a:pt x="105537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2637" t="0" r="-42637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18626" y="4662399"/>
            <a:ext cx="5433881" cy="4794471"/>
            <a:chOff x="0" y="0"/>
            <a:chExt cx="24384000" cy="21514714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21514713"/>
            </a:xfrm>
            <a:custGeom>
              <a:avLst/>
              <a:gdLst/>
              <a:ahLst/>
              <a:cxnLst/>
              <a:rect r="r" b="b" t="t" l="l"/>
              <a:pathLst>
                <a:path h="2151471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514713"/>
                  </a:lnTo>
                  <a:lnTo>
                    <a:pt x="0" y="21514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170" t="0" r="-22170" b="3624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1538" y="1943100"/>
            <a:ext cx="16544925" cy="42862"/>
            <a:chOff x="0" y="0"/>
            <a:chExt cx="22059900" cy="57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59900" cy="57150"/>
            </a:xfrm>
            <a:custGeom>
              <a:avLst/>
              <a:gdLst/>
              <a:ahLst/>
              <a:cxnLst/>
              <a:rect r="r" b="b" t="t" l="l"/>
              <a:pathLst>
                <a:path h="5715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CC0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1538" y="2240369"/>
            <a:ext cx="7107552" cy="7382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537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There is an approximation-fact</a:t>
            </a: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or preserving reduction from Steiner Tree to Metric Steiner Tree.</a:t>
            </a:r>
          </a:p>
          <a:p>
            <a:pPr algn="l" marL="604518" indent="-302259" lvl="1">
              <a:lnSpc>
                <a:spcPts val="537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Approximation-Factor Preserving: The "closeness" to the perfect answer remains the same in both versions.</a:t>
            </a:r>
          </a:p>
          <a:p>
            <a:pPr algn="l" marL="604518" indent="-302259" lvl="1">
              <a:lnSpc>
                <a:spcPts val="537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If w</a:t>
            </a: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 solve the "Metric" version, we have effectively solved the "General" version without losing any quality in our answer.</a:t>
            </a:r>
          </a:p>
          <a:p>
            <a:pPr algn="l">
              <a:lnSpc>
                <a:spcPts val="5375"/>
              </a:lnSpc>
            </a:pPr>
          </a:p>
          <a:p>
            <a:pPr algn="l">
              <a:lnSpc>
                <a:spcPts val="537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71538" y="842963"/>
            <a:ext cx="11010305" cy="84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Block 1: Theorem 3.2: The Reduction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18626" y="2738349"/>
            <a:ext cx="6840674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Visual: An arrow showing: [General Problem] \to [Reduction] \to [Metric Problem]</a:t>
            </a: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1538" y="1943100"/>
            <a:ext cx="16544925" cy="42862"/>
            <a:chOff x="0" y="0"/>
            <a:chExt cx="22059900" cy="571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059900" cy="57150"/>
            </a:xfrm>
            <a:custGeom>
              <a:avLst/>
              <a:gdLst/>
              <a:ahLst/>
              <a:cxnLst/>
              <a:rect r="r" b="b" t="t" l="l"/>
              <a:pathLst>
                <a:path h="5715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CC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557623" y="4142335"/>
            <a:ext cx="7122762" cy="4935056"/>
          </a:xfrm>
          <a:custGeom>
            <a:avLst/>
            <a:gdLst/>
            <a:ahLst/>
            <a:cxnLst/>
            <a:rect r="r" b="b" t="t" l="l"/>
            <a:pathLst>
              <a:path h="4935056" w="7122762">
                <a:moveTo>
                  <a:pt x="0" y="0"/>
                </a:moveTo>
                <a:lnTo>
                  <a:pt x="7122762" y="0"/>
                </a:lnTo>
                <a:lnTo>
                  <a:pt x="7122762" y="4935056"/>
                </a:lnTo>
                <a:lnTo>
                  <a:pt x="0" y="49350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71538" y="2240369"/>
            <a:ext cx="8529829" cy="8058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537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core of the problem lies in h</a:t>
            </a: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ow edge costs behave</a:t>
            </a:r>
          </a:p>
          <a:p>
            <a:pPr algn="l" marL="604518" indent="-302259" lvl="1">
              <a:lnSpc>
                <a:spcPts val="537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We focus on instances where:</a:t>
            </a:r>
          </a:p>
          <a:p>
            <a:pPr algn="l" marL="1209036" indent="-403012" lvl="2">
              <a:lnSpc>
                <a:spcPts val="537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graph is complete</a:t>
            </a:r>
          </a:p>
          <a:p>
            <a:pPr algn="l" marL="1209036" indent="-403012" lvl="2">
              <a:lnSpc>
                <a:spcPts val="537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Edge costs are non-negative</a:t>
            </a:r>
          </a:p>
          <a:p>
            <a:pPr algn="l" marL="1209036" indent="-403012" lvl="2">
              <a:lnSpc>
                <a:spcPts val="537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Triangle inequality holds:</a:t>
            </a:r>
          </a:p>
          <a:p>
            <a:pPr algn="l" marL="1813554" indent="-453388" lvl="3">
              <a:lnSpc>
                <a:spcPts val="5375"/>
              </a:lnSpc>
              <a:buFont typeface="Arial"/>
              <a:buChar char="￭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cost(u,v) ≤ cost(u,w) + cost(w,v)</a:t>
            </a:r>
          </a:p>
          <a:p>
            <a:pPr algn="l" marL="604518" indent="-302259" lvl="1">
              <a:lnSpc>
                <a:spcPts val="537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Triangle inequality ensures distances behave realistically</a:t>
            </a:r>
          </a:p>
          <a:p>
            <a:pPr algn="l" marL="604518" indent="-302259" lvl="1">
              <a:lnSpc>
                <a:spcPts val="537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 a</a:t>
            </a: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metric world, the shortest distance between two points is a direct line.</a:t>
            </a:r>
          </a:p>
          <a:p>
            <a:pPr algn="l">
              <a:lnSpc>
                <a:spcPts val="5375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71538" y="842963"/>
            <a:ext cx="8287680" cy="84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Block 1: Traingle Inequality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29767" y="3179824"/>
            <a:ext cx="517847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Trainagle Inequality Theorem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4890" y="3528836"/>
            <a:ext cx="7571189" cy="6260916"/>
            <a:chOff x="0" y="0"/>
            <a:chExt cx="24384000" cy="201640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164093"/>
            </a:xfrm>
            <a:custGeom>
              <a:avLst/>
              <a:gdLst/>
              <a:ahLst/>
              <a:cxnLst/>
              <a:rect r="r" b="b" t="t" l="l"/>
              <a:pathLst>
                <a:path h="2016409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164093"/>
                  </a:lnTo>
                  <a:lnTo>
                    <a:pt x="0" y="20164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143" r="0" b="-414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1538" y="1943100"/>
            <a:ext cx="16544925" cy="42862"/>
            <a:chOff x="0" y="0"/>
            <a:chExt cx="22059900" cy="57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59900" cy="57150"/>
            </a:xfrm>
            <a:custGeom>
              <a:avLst/>
              <a:gdLst/>
              <a:ahLst/>
              <a:cxnLst/>
              <a:rect r="r" b="b" t="t" l="l"/>
              <a:pathLst>
                <a:path h="5715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CC0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1538" y="842963"/>
            <a:ext cx="10019109" cy="84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Steiner Tree and Complete Graph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38164" y="2639064"/>
            <a:ext cx="64703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Complete Graph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26173" y="2639064"/>
            <a:ext cx="64703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Steiner Tree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43154" y="3806515"/>
            <a:ext cx="6178856" cy="5451785"/>
            <a:chOff x="0" y="0"/>
            <a:chExt cx="24384000" cy="215147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21514713"/>
            </a:xfrm>
            <a:custGeom>
              <a:avLst/>
              <a:gdLst/>
              <a:ahLst/>
              <a:cxnLst/>
              <a:rect r="r" b="b" t="t" l="l"/>
              <a:pathLst>
                <a:path h="2151471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514713"/>
                  </a:lnTo>
                  <a:lnTo>
                    <a:pt x="0" y="21514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77" r="0" b="-477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71538" y="2240369"/>
            <a:ext cx="6918902" cy="6706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537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oints:</a:t>
            </a:r>
          </a:p>
          <a:p>
            <a:pPr algn="l" marL="604518" indent="-302259" lvl="1">
              <a:lnSpc>
                <a:spcPts val="537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Take</a:t>
            </a: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any graph G.</a:t>
            </a:r>
          </a:p>
          <a:p>
            <a:pPr algn="l" marL="604518" indent="-302259" lvl="1">
              <a:lnSpc>
                <a:spcPts val="537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Construct G' (Metric Closure): A complete graph where the cost of (u,v) is the shortest path distance in G.</a:t>
            </a:r>
          </a:p>
          <a:p>
            <a:pPr algn="l" marL="604518" indent="-302259" lvl="1">
              <a:lnSpc>
                <a:spcPts val="5375"/>
              </a:lnSpc>
              <a:buFont typeface="Arial"/>
              <a:buChar char="•"/>
            </a:pPr>
            <a:r>
              <a:rPr lang="en-US" sz="2799">
                <a:solidFill>
                  <a:srgbClr val="FFCC00"/>
                </a:solidFill>
                <a:latin typeface="Cambria"/>
                <a:ea typeface="Cambria"/>
                <a:cs typeface="Cambria"/>
                <a:sym typeface="Cambria"/>
              </a:rPr>
              <a:t>Vi</a:t>
            </a:r>
            <a:r>
              <a:rPr lang="en-US" sz="2799">
                <a:solidFill>
                  <a:srgbClr val="FFCC00"/>
                </a:solidFill>
                <a:latin typeface="Cambria"/>
                <a:ea typeface="Cambria"/>
                <a:cs typeface="Cambria"/>
                <a:sym typeface="Cambria"/>
              </a:rPr>
              <a:t>sual: A graph with a winding path between A and B. In G', replace that winding path with a single direct edge of the same cost.</a:t>
            </a:r>
          </a:p>
          <a:p>
            <a:pPr algn="l">
              <a:lnSpc>
                <a:spcPts val="5375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871537" y="842963"/>
            <a:ext cx="15311438" cy="84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Block 1: Theorem 3.2 Proof : Part 1: Metric Closure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71538" y="1943100"/>
            <a:ext cx="16544925" cy="42862"/>
            <a:chOff x="0" y="0"/>
            <a:chExt cx="22059900" cy="57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59900" cy="57150"/>
            </a:xfrm>
            <a:custGeom>
              <a:avLst/>
              <a:gdLst/>
              <a:ahLst/>
              <a:cxnLst/>
              <a:rect r="r" b="b" t="t" l="l"/>
              <a:pathLst>
                <a:path h="5715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CC00"/>
            </a:solid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71538" y="2240369"/>
            <a:ext cx="6918902" cy="7382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537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L</a:t>
            </a: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ogic:</a:t>
            </a: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cost(u,v) in G' is  ≤ cost(u,v) in G.</a:t>
            </a:r>
          </a:p>
          <a:p>
            <a:pPr algn="l" marL="604518" indent="-302259" lvl="1">
              <a:lnSpc>
                <a:spcPts val="537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Therefore, the perfect answer in the "Shortcut Map" (G') is at least as cheap as the perfect answer in the "Real Map" (G).</a:t>
            </a:r>
          </a:p>
          <a:p>
            <a:pPr algn="l" marL="604518" indent="-302259" lvl="1">
              <a:lnSpc>
                <a:spcPts val="537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OPT(G')  ≤ OPT(G).</a:t>
            </a:r>
          </a:p>
          <a:p>
            <a:pPr algn="l" marL="604518" indent="-302259" lvl="1">
              <a:lnSpc>
                <a:spcPts val="5375"/>
              </a:lnSpc>
              <a:buFont typeface="Arial"/>
              <a:buChar char="•"/>
            </a:pPr>
          </a:p>
          <a:p>
            <a:pPr algn="l" marL="604518" indent="-302259" lvl="1">
              <a:lnSpc>
                <a:spcPts val="5375"/>
              </a:lnSpc>
              <a:buFont typeface="Arial"/>
              <a:buChar char="•"/>
            </a:pPr>
            <a:r>
              <a:rPr lang="en-US" sz="2799">
                <a:solidFill>
                  <a:srgbClr val="FFCC00"/>
                </a:solidFill>
                <a:latin typeface="Cambria"/>
                <a:ea typeface="Cambria"/>
                <a:cs typeface="Cambria"/>
                <a:sym typeface="Cambria"/>
              </a:rPr>
              <a:t>Visual: A "Price Match" symbol. The metric map always matches or beats the original price.</a:t>
            </a:r>
          </a:p>
          <a:p>
            <a:pPr algn="l" marL="604518" indent="-302259" lvl="1">
              <a:lnSpc>
                <a:spcPts val="5375"/>
              </a:lnSpc>
              <a:buFont typeface="Arial"/>
              <a:buChar char="•"/>
            </a:pPr>
          </a:p>
          <a:p>
            <a:pPr algn="l">
              <a:lnSpc>
                <a:spcPts val="5375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871537" y="842963"/>
            <a:ext cx="13161801" cy="84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Block 1: Proof 3.2 : Part 2: Comparing Costs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71538" y="1943100"/>
            <a:ext cx="16544925" cy="42862"/>
            <a:chOff x="0" y="0"/>
            <a:chExt cx="22059900" cy="57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59900" cy="57150"/>
            </a:xfrm>
            <a:custGeom>
              <a:avLst/>
              <a:gdLst/>
              <a:ahLst/>
              <a:cxnLst/>
              <a:rect r="r" b="b" t="t" l="l"/>
              <a:pathLst>
                <a:path h="5715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CC00"/>
            </a:solid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1538" y="1943100"/>
            <a:ext cx="16544925" cy="42862"/>
            <a:chOff x="0" y="0"/>
            <a:chExt cx="22059900" cy="57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59900" cy="57150"/>
            </a:xfrm>
            <a:custGeom>
              <a:avLst/>
              <a:gdLst/>
              <a:ahLst/>
              <a:cxnLst/>
              <a:rect r="r" b="b" t="t" l="l"/>
              <a:pathLst>
                <a:path h="5715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CC0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1538" y="781087"/>
            <a:ext cx="10705021" cy="84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Block 1: Proof 3.2 : Part 3: Mapping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1538" y="2240369"/>
            <a:ext cx="6918902" cy="8058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537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L</a:t>
            </a: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ogic:</a:t>
            </a:r>
          </a:p>
          <a:p>
            <a:pPr algn="l" marL="604518" indent="-302259" lvl="1">
              <a:lnSpc>
                <a:spcPts val="537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Take</a:t>
            </a: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 Steiner Tree T' from the metric map.</a:t>
            </a:r>
          </a:p>
          <a:p>
            <a:pPr algn="l" marL="604518" indent="-302259" lvl="1">
              <a:lnSpc>
                <a:spcPts val="537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Replace each "Shortcut" with the "Real Path" from the original map.</a:t>
            </a:r>
          </a:p>
          <a:p>
            <a:pPr algn="l" marL="604518" indent="-302259" lvl="1">
              <a:lnSpc>
                <a:spcPts val="537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If you get loops (cycles), delete extra edges.</a:t>
            </a:r>
          </a:p>
          <a:p>
            <a:pPr algn="l" marL="604518" indent="-302259" lvl="1">
              <a:lnSpc>
                <a:spcPts val="537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Cost only goes down or stays same!</a:t>
            </a:r>
          </a:p>
          <a:p>
            <a:pPr algn="l" marL="604518" indent="-302259" lvl="1">
              <a:lnSpc>
                <a:spcPts val="5375"/>
              </a:lnSpc>
              <a:buFont typeface="Arial"/>
              <a:buChar char="•"/>
            </a:pPr>
            <a:r>
              <a:rPr lang="en-US" sz="2799">
                <a:solidFill>
                  <a:srgbClr val="FFCC00"/>
                </a:solidFill>
                <a:latin typeface="Cambria"/>
                <a:ea typeface="Cambria"/>
                <a:cs typeface="Cambria"/>
                <a:sym typeface="Cambria"/>
              </a:rPr>
              <a:t>Visual: A straight line A-B being replaced by its original zigzag path. Then show a circle being "cut" into a tree.</a:t>
            </a:r>
          </a:p>
          <a:p>
            <a:pPr algn="l">
              <a:lnSpc>
                <a:spcPts val="5375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1755" y="5143500"/>
            <a:ext cx="5433881" cy="4794471"/>
            <a:chOff x="0" y="0"/>
            <a:chExt cx="24384000" cy="21514714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21514713"/>
            </a:xfrm>
            <a:custGeom>
              <a:avLst/>
              <a:gdLst/>
              <a:ahLst/>
              <a:cxnLst/>
              <a:rect r="r" b="b" t="t" l="l"/>
              <a:pathLst>
                <a:path h="2151471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514713"/>
                  </a:lnTo>
                  <a:lnTo>
                    <a:pt x="0" y="21514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170" t="0" r="-22170" b="3624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1538" y="1943100"/>
            <a:ext cx="16544925" cy="42862"/>
            <a:chOff x="0" y="0"/>
            <a:chExt cx="22059900" cy="57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59900" cy="57150"/>
            </a:xfrm>
            <a:custGeom>
              <a:avLst/>
              <a:gdLst/>
              <a:ahLst/>
              <a:cxnLst/>
              <a:rect r="r" b="b" t="t" l="l"/>
              <a:pathLst>
                <a:path h="5715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CC0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1537" y="2240369"/>
            <a:ext cx="9402491" cy="7382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537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Concept:</a:t>
            </a:r>
          </a:p>
          <a:p>
            <a:pPr algn="l" marL="1209036" indent="-403012" lvl="2">
              <a:lnSpc>
                <a:spcPts val="537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Let</a:t>
            </a: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R be the set of Required vertices.</a:t>
            </a:r>
          </a:p>
          <a:p>
            <a:pPr algn="l" marL="1209036" indent="-403012" lvl="2">
              <a:lnSpc>
                <a:spcPts val="537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An MST on R is a feasible solution (it c</a:t>
            </a: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onnects everything we need).</a:t>
            </a:r>
          </a:p>
          <a:p>
            <a:pPr algn="l" marL="604518" indent="-302259" lvl="1">
              <a:lnSpc>
                <a:spcPts val="537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Comparison:</a:t>
            </a:r>
          </a:p>
          <a:p>
            <a:pPr algn="l" marL="1209036" indent="-403012" lvl="2">
              <a:lnSpc>
                <a:spcPts val="537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Finding an MST is in P (Fast).</a:t>
            </a:r>
          </a:p>
          <a:p>
            <a:pPr algn="l" marL="1209036" indent="-403012" lvl="2">
              <a:lnSpc>
                <a:spcPts val="537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Finding a Metric Steiner Tree is NP-hard (Slow).</a:t>
            </a:r>
          </a:p>
          <a:p>
            <a:pPr algn="l" marL="1209036" indent="-403012" lvl="2">
              <a:lnSpc>
                <a:spcPts val="537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We use the MST as a fast substitute, even if it's slightly more expensive.</a:t>
            </a:r>
          </a:p>
          <a:p>
            <a:pPr algn="l" marL="604518" indent="-302259" lvl="1">
              <a:lnSpc>
                <a:spcPts val="537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Theorem 3.3: The cost of an MST on R is within 2 · OPT.</a:t>
            </a:r>
          </a:p>
          <a:p>
            <a:pPr algn="l">
              <a:lnSpc>
                <a:spcPts val="537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71537" y="813561"/>
            <a:ext cx="9201485" cy="84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Block 2: MST-based Algorithm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1755" y="2421344"/>
            <a:ext cx="5671679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Visual: A graph showing required nodes connected via a simple MST compared to a more complex Steiner tree using extra points.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1755" y="5143500"/>
            <a:ext cx="5433881" cy="4794471"/>
            <a:chOff x="0" y="0"/>
            <a:chExt cx="24384000" cy="21514714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21514713"/>
            </a:xfrm>
            <a:custGeom>
              <a:avLst/>
              <a:gdLst/>
              <a:ahLst/>
              <a:cxnLst/>
              <a:rect r="r" b="b" t="t" l="l"/>
              <a:pathLst>
                <a:path h="2151471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514713"/>
                  </a:lnTo>
                  <a:lnTo>
                    <a:pt x="0" y="21514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170" t="0" r="-22170" b="3624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1538" y="1943100"/>
            <a:ext cx="16544925" cy="42862"/>
            <a:chOff x="0" y="0"/>
            <a:chExt cx="22059900" cy="57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59900" cy="57150"/>
            </a:xfrm>
            <a:custGeom>
              <a:avLst/>
              <a:gdLst/>
              <a:ahLst/>
              <a:cxnLst/>
              <a:rect r="r" b="b" t="t" l="l"/>
              <a:pathLst>
                <a:path h="5715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CC0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1537" y="2240369"/>
            <a:ext cx="9402491" cy="6706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537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Step 1:</a:t>
            </a: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Double the Edges</a:t>
            </a:r>
          </a:p>
          <a:p>
            <a:pPr algn="l" marL="1209036" indent="-403012" lvl="2">
              <a:lnSpc>
                <a:spcPts val="537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Take an optimal Steiner tree (Cost = </a:t>
            </a:r>
            <a:r>
              <a:rPr lang="en-US" sz="2799" i="true">
                <a:solidFill>
                  <a:srgbClr val="000000"/>
                </a:solidFill>
                <a:latin typeface="Cambria Italics"/>
                <a:ea typeface="Cambria Italics"/>
                <a:cs typeface="Cambria Italics"/>
                <a:sym typeface="Cambria Italics"/>
              </a:rPr>
              <a:t>OPT</a:t>
            </a: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).</a:t>
            </a:r>
          </a:p>
          <a:p>
            <a:pPr algn="l" marL="1209036" indent="-403012" lvl="2">
              <a:lnSpc>
                <a:spcPts val="537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Double every edge (Cost = 2 .  </a:t>
            </a:r>
            <a:r>
              <a:rPr lang="en-US" sz="2799" i="true">
                <a:solidFill>
                  <a:srgbClr val="000000"/>
                </a:solidFill>
                <a:latin typeface="Cambria Italics"/>
                <a:ea typeface="Cambria Italics"/>
                <a:cs typeface="Cambria Italics"/>
                <a:sym typeface="Cambria Italics"/>
              </a:rPr>
              <a:t>OPT</a:t>
            </a: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).</a:t>
            </a:r>
          </a:p>
          <a:p>
            <a:pPr algn="l" marL="1209036" indent="-403012" lvl="2">
              <a:lnSpc>
                <a:spcPts val="537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This creates an Eulerian graph (every </a:t>
            </a: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node has even degree).</a:t>
            </a:r>
          </a:p>
          <a:p>
            <a:pPr algn="l" marL="604518" indent="-302259" lvl="1">
              <a:lnSpc>
                <a:spcPts val="537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St</a:t>
            </a: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ep 2: Find an Euler Tour</a:t>
            </a:r>
          </a:p>
          <a:p>
            <a:pPr algn="l" marL="1209036" indent="-403012" lvl="2">
              <a:lnSpc>
                <a:spcPts val="537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Use DFS to find a tour that visits every vertex and uses every edge exactly once.</a:t>
            </a:r>
          </a:p>
          <a:p>
            <a:pPr algn="l" marL="1209036" indent="-403012" lvl="2">
              <a:lnSpc>
                <a:spcPts val="537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Tour Cost = 2 . OPT.</a:t>
            </a:r>
          </a:p>
          <a:p>
            <a:pPr algn="l">
              <a:lnSpc>
                <a:spcPts val="537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71537" y="248547"/>
            <a:ext cx="11446185" cy="2485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Block 2: Proof of Theorem 3.3 (Part 1) </a:t>
            </a:r>
          </a:p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Doubling and Touring</a:t>
            </a:r>
          </a:p>
          <a:p>
            <a:pPr algn="l">
              <a:lnSpc>
                <a:spcPts val="648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431755" y="2421344"/>
            <a:ext cx="5671679" cy="287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Visual: A tree diagram where each branch is replaced by two parallel lines, and a dotted arrow showing a full "loop" around the tree.</a:t>
            </a: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1755" y="5143500"/>
            <a:ext cx="5433881" cy="4794471"/>
            <a:chOff x="0" y="0"/>
            <a:chExt cx="24384000" cy="21514714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21514713"/>
            </a:xfrm>
            <a:custGeom>
              <a:avLst/>
              <a:gdLst/>
              <a:ahLst/>
              <a:cxnLst/>
              <a:rect r="r" b="b" t="t" l="l"/>
              <a:pathLst>
                <a:path h="2151471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514713"/>
                  </a:lnTo>
                  <a:lnTo>
                    <a:pt x="0" y="21514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170" t="0" r="-22170" b="3624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1538" y="1943100"/>
            <a:ext cx="16544925" cy="42862"/>
            <a:chOff x="0" y="0"/>
            <a:chExt cx="22059900" cy="57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59900" cy="57150"/>
            </a:xfrm>
            <a:custGeom>
              <a:avLst/>
              <a:gdLst/>
              <a:ahLst/>
              <a:cxnLst/>
              <a:rect r="r" b="b" t="t" l="l"/>
              <a:pathLst>
                <a:path h="5715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CC0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1538" y="1928637"/>
            <a:ext cx="10376654" cy="8058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537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Step 3:</a:t>
            </a: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Short-cut to Hamiltonian Cycle</a:t>
            </a:r>
          </a:p>
          <a:p>
            <a:pPr algn="l" marL="1209036" indent="-403012" lvl="2">
              <a:lnSpc>
                <a:spcPts val="537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Traverse the Euler tour.</a:t>
            </a:r>
          </a:p>
          <a:p>
            <a:pPr algn="l" marL="1209036" indent="-403012" lvl="2">
              <a:lnSpc>
                <a:spcPts val="537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If a Steiner vertex or a previously visited vertex appears, skip it and go to the next unvisited required vertex.</a:t>
            </a:r>
          </a:p>
          <a:p>
            <a:pPr algn="l" marL="604518" indent="-302259" lvl="1">
              <a:lnSpc>
                <a:spcPts val="537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Logic (Triangle Inequality):</a:t>
            </a:r>
          </a:p>
          <a:p>
            <a:pPr algn="l" marL="1209036" indent="-403012" lvl="2">
              <a:lnSpc>
                <a:spcPts val="537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Because the graph is metric, skippi</a:t>
            </a: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ng points (short-cutting) never increases the cost.</a:t>
            </a:r>
          </a:p>
          <a:p>
            <a:pPr algn="l" marL="1209036" indent="-403012" lvl="2">
              <a:lnSpc>
                <a:spcPts val="537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</a:t>
            </a: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 now have a Hamiltonian Cycle on R with cost  ≤ 2 . OPT.</a:t>
            </a:r>
          </a:p>
          <a:p>
            <a:pPr algn="l" marL="604518" indent="-302259" lvl="1">
              <a:lnSpc>
                <a:spcPts val="537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Final Step:</a:t>
            </a:r>
          </a:p>
          <a:p>
            <a:pPr algn="l" marL="1209036" indent="-403012" lvl="2">
              <a:lnSpc>
                <a:spcPts val="537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Delete one edge from this cycle.</a:t>
            </a:r>
          </a:p>
          <a:p>
            <a:pPr algn="l" marL="1209036" indent="-403012" lvl="2">
              <a:lnSpc>
                <a:spcPts val="537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We get a path on R with cost ≤ 2 . OPT.</a:t>
            </a:r>
          </a:p>
          <a:p>
            <a:pPr algn="l">
              <a:lnSpc>
                <a:spcPts val="537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71537" y="248547"/>
            <a:ext cx="11446185" cy="3305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Block 2: Proof of Theorem 3.3 (Part 2) </a:t>
            </a:r>
          </a:p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Sh</a:t>
            </a:r>
            <a:r>
              <a:rPr lang="en-US" sz="5400" b="true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ort-cutting</a:t>
            </a:r>
          </a:p>
          <a:p>
            <a:pPr algn="l">
              <a:lnSpc>
                <a:spcPts val="6480"/>
              </a:lnSpc>
            </a:pPr>
          </a:p>
          <a:p>
            <a:pPr algn="l">
              <a:lnSpc>
                <a:spcPts val="648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431755" y="2421344"/>
            <a:ext cx="5671679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Visual: Short Cut to Hamiltonian Cycle</a:t>
            </a: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1755" y="5143500"/>
            <a:ext cx="5433881" cy="4794471"/>
            <a:chOff x="0" y="0"/>
            <a:chExt cx="24384000" cy="21514714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21514713"/>
            </a:xfrm>
            <a:custGeom>
              <a:avLst/>
              <a:gdLst/>
              <a:ahLst/>
              <a:cxnLst/>
              <a:rect r="r" b="b" t="t" l="l"/>
              <a:pathLst>
                <a:path h="2151471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514713"/>
                  </a:lnTo>
                  <a:lnTo>
                    <a:pt x="0" y="21514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170" t="0" r="-22170" b="3624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1538" y="1943100"/>
            <a:ext cx="16544925" cy="42862"/>
            <a:chOff x="0" y="0"/>
            <a:chExt cx="22059900" cy="57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59900" cy="57150"/>
            </a:xfrm>
            <a:custGeom>
              <a:avLst/>
              <a:gdLst/>
              <a:ahLst/>
              <a:cxnLst/>
              <a:rect r="r" b="b" t="t" l="l"/>
              <a:pathLst>
                <a:path h="5715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CC0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1538" y="1928637"/>
            <a:ext cx="10376654" cy="8058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537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Scenario:</a:t>
            </a:r>
          </a:p>
          <a:p>
            <a:pPr algn="l" marL="1209036" indent="-403012" lvl="2">
              <a:lnSpc>
                <a:spcPts val="5375"/>
              </a:lnSpc>
              <a:buFont typeface="Arial"/>
              <a:buChar char="⚬"/>
            </a:pPr>
            <a:r>
              <a:rPr lang="en-US" sz="2799" i="true">
                <a:solidFill>
                  <a:srgbClr val="000000"/>
                </a:solidFill>
                <a:latin typeface="Cambria Italics"/>
                <a:ea typeface="Cambria Italics"/>
                <a:cs typeface="Cambria Italics"/>
                <a:sym typeface="Cambria Italics"/>
              </a:rPr>
              <a:t>n</a:t>
            </a: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required vertices on a circle.</a:t>
            </a:r>
          </a:p>
          <a:p>
            <a:pPr algn="l" marL="1209036" indent="-403012" lvl="2">
              <a:lnSpc>
                <a:spcPts val="537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1 Steiner vertex in the dead center.</a:t>
            </a:r>
          </a:p>
          <a:p>
            <a:pPr algn="l" marL="1209036" indent="-403012" lvl="2">
              <a:lnSpc>
                <a:spcPts val="537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</a:t>
            </a: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istance from center to any required vertex = 1.</a:t>
            </a:r>
          </a:p>
          <a:p>
            <a:pPr algn="l" marL="1209036" indent="-403012" lvl="2">
              <a:lnSpc>
                <a:spcPts val="537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Distance between any two required vertices = 2.</a:t>
            </a:r>
          </a:p>
          <a:p>
            <a:pPr algn="l" marL="604518" indent="-302259" lvl="1">
              <a:lnSpc>
                <a:spcPts val="537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Math:</a:t>
            </a:r>
          </a:p>
          <a:p>
            <a:pPr algn="l" marL="1209036" indent="-403012" lvl="2">
              <a:lnSpc>
                <a:spcPts val="537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Optimal (OPT): Conn</a:t>
            </a: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ect all n nodes to the center Stei</a:t>
            </a: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ner node. Cost = n.</a:t>
            </a:r>
          </a:p>
          <a:p>
            <a:pPr algn="l" marL="1209036" indent="-403012" lvl="2">
              <a:lnSpc>
                <a:spcPts val="537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MST on R: Since we can't use the center, we connect nodes along the perimeter. Cost = 2(n-1).</a:t>
            </a:r>
          </a:p>
          <a:p>
            <a:pPr algn="l" marL="604518" indent="-302259" lvl="1">
              <a:lnSpc>
                <a:spcPts val="537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</a:t>
            </a: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Ratio:</a:t>
            </a:r>
          </a:p>
          <a:p>
            <a:pPr algn="l" marL="1209036" indent="-403012" lvl="2">
              <a:lnSpc>
                <a:spcPts val="537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As</a:t>
            </a: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2799" i="true">
                <a:solidFill>
                  <a:srgbClr val="000000"/>
                </a:solidFill>
                <a:latin typeface="Cambria Italics"/>
                <a:ea typeface="Cambria Italics"/>
                <a:cs typeface="Cambria Italics"/>
                <a:sym typeface="Cambria Italics"/>
              </a:rPr>
              <a:t>n</a:t>
            </a: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gets larger, the ratio 2(n-1)/ n approaches 2.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5481" y="774595"/>
            <a:ext cx="5353348" cy="84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Block 2: </a:t>
            </a:r>
            <a:r>
              <a:rPr lang="en-US" b="true" sz="54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Example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1755" y="2421344"/>
            <a:ext cx="5671679" cy="287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Visual: A "Star Graph" with n points. Show the center node being used by the Steiner tree but avoided by the MST.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57914" y="2687088"/>
            <a:ext cx="17372171" cy="1432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b="true" sz="90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Traveling Salesman Problem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93549" y="4164073"/>
            <a:ext cx="6022913" cy="4348674"/>
            <a:chOff x="0" y="0"/>
            <a:chExt cx="10553700" cy="7620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537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553700">
                  <a:moveTo>
                    <a:pt x="0" y="0"/>
                  </a:moveTo>
                  <a:lnTo>
                    <a:pt x="10553700" y="0"/>
                  </a:lnTo>
                  <a:lnTo>
                    <a:pt x="105537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2637" t="0" r="-42637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1538" y="842963"/>
            <a:ext cx="17372171" cy="859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is TSP?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71538" y="1943100"/>
            <a:ext cx="16544925" cy="42862"/>
            <a:chOff x="0" y="0"/>
            <a:chExt cx="22059900" cy="571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59900" cy="57150"/>
            </a:xfrm>
            <a:custGeom>
              <a:avLst/>
              <a:gdLst/>
              <a:ahLst/>
              <a:cxnLst/>
              <a:rect r="r" b="b" t="t" l="l"/>
              <a:pathLst>
                <a:path h="5715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CC0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871538" y="2476660"/>
            <a:ext cx="8848137" cy="7496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4992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</a:t>
            </a: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TSP?</a:t>
            </a:r>
          </a:p>
          <a:p>
            <a:pPr algn="l" marL="1122681" indent="-374227" lvl="2">
              <a:lnSpc>
                <a:spcPts val="4992"/>
              </a:lnSpc>
              <a:spcBef>
                <a:spcPct val="0"/>
              </a:spcBef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Imagine a delivery driver who needs to visit every city and return home.</a:t>
            </a:r>
          </a:p>
          <a:p>
            <a:pPr algn="l" marL="561341" indent="-280670" lvl="1">
              <a:lnSpc>
                <a:spcPts val="4992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Goal:</a:t>
            </a:r>
          </a:p>
          <a:p>
            <a:pPr algn="l" marL="1122681" indent="-374227" lvl="2">
              <a:lnSpc>
                <a:spcPts val="4992"/>
              </a:lnSpc>
              <a:spcBef>
                <a:spcPct val="0"/>
              </a:spcBef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absolute shortest path that visits every city exactly once and returns to the start.</a:t>
            </a:r>
          </a:p>
          <a:p>
            <a:pPr algn="l" marL="561341" indent="-280670" lvl="1">
              <a:lnSpc>
                <a:spcPts val="4992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it's hard:</a:t>
            </a:r>
          </a:p>
          <a:p>
            <a:pPr algn="l" marL="1122681" indent="-374227" lvl="2">
              <a:lnSpc>
                <a:spcPts val="4992"/>
              </a:lnSpc>
              <a:spcBef>
                <a:spcPct val="0"/>
              </a:spcBef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number of possible paths grows incredibly fast (Factorial!).</a:t>
            </a:r>
          </a:p>
          <a:p>
            <a:pPr algn="l" marL="561341" indent="-280670" lvl="1">
              <a:lnSpc>
                <a:spcPts val="4992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Visual: A map with cities and a single loop connecting them all efficiently.</a:t>
            </a:r>
          </a:p>
          <a:p>
            <a:pPr algn="l">
              <a:lnSpc>
                <a:spcPts val="4992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431755" y="2421344"/>
            <a:ext cx="5671679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Visual: A map with cities and a single loop connecting them all efficiently.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56138" y="4326344"/>
            <a:ext cx="6022913" cy="4348674"/>
            <a:chOff x="0" y="0"/>
            <a:chExt cx="10553700" cy="7620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537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553700">
                  <a:moveTo>
                    <a:pt x="0" y="0"/>
                  </a:moveTo>
                  <a:lnTo>
                    <a:pt x="10553700" y="0"/>
                  </a:lnTo>
                  <a:lnTo>
                    <a:pt x="105537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2637" t="0" r="-42637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1538" y="842963"/>
            <a:ext cx="13924359" cy="84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3.5 - T</a:t>
            </a:r>
            <a:r>
              <a:rPr lang="en-US" b="true" sz="54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 Traveling Salesman Problem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71538" y="1943100"/>
            <a:ext cx="16544925" cy="42862"/>
            <a:chOff x="0" y="0"/>
            <a:chExt cx="22059900" cy="571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59900" cy="57150"/>
            </a:xfrm>
            <a:custGeom>
              <a:avLst/>
              <a:gdLst/>
              <a:ahLst/>
              <a:cxnLst/>
              <a:rect r="r" b="b" t="t" l="l"/>
              <a:pathLst>
                <a:path h="5715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CC0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871538" y="2457610"/>
            <a:ext cx="8848137" cy="6039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375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ion: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iven a complete graph with non-negative edge costs.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a minimum cost cycle visiting every vertex exactly once.</a:t>
            </a:r>
          </a:p>
          <a:p>
            <a:pPr algn="l" marL="604519" indent="-302260" lvl="1">
              <a:lnSpc>
                <a:spcPts val="5375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Hard Truth: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its full generality, TSP cannot be approximated at all (assuming P /= NP).</a:t>
            </a:r>
          </a:p>
          <a:p>
            <a:pPr algn="l">
              <a:lnSpc>
                <a:spcPts val="5375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431755" y="2421344"/>
            <a:ext cx="5671679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Visual: A graph with 5 vertices. Show one possible tour (1 \to 2 \to 3 \to 4 \to 5 \to 1).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56138" y="4326344"/>
            <a:ext cx="6022913" cy="4348674"/>
            <a:chOff x="0" y="0"/>
            <a:chExt cx="10553700" cy="7620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537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553700">
                  <a:moveTo>
                    <a:pt x="0" y="0"/>
                  </a:moveTo>
                  <a:lnTo>
                    <a:pt x="10553700" y="0"/>
                  </a:lnTo>
                  <a:lnTo>
                    <a:pt x="105537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2637" t="0" r="-42637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1538" y="842963"/>
            <a:ext cx="11752771" cy="84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Theorem 3.6 - Hardn</a:t>
            </a:r>
            <a:r>
              <a:rPr lang="en-US" b="true" sz="54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ess of General TSP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71538" y="1943100"/>
            <a:ext cx="16544925" cy="42862"/>
            <a:chOff x="0" y="0"/>
            <a:chExt cx="22059900" cy="571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59900" cy="57150"/>
            </a:xfrm>
            <a:custGeom>
              <a:avLst/>
              <a:gdLst/>
              <a:ahLst/>
              <a:cxnLst/>
              <a:rect r="r" b="b" t="t" l="l"/>
              <a:pathLst>
                <a:path h="5715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CC0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871538" y="2457610"/>
            <a:ext cx="8848137" cy="536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375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ny polynomial time computable function α(n), TSP cannot be approximated within a factor of α(n), unless P = NP.</a:t>
            </a:r>
          </a:p>
          <a:p>
            <a:pPr algn="l" marL="604519" indent="-302260" lvl="1">
              <a:lnSpc>
                <a:spcPts val="5375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Explanation: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 if you ask for an answer within a factor of 100 or 1,000,000, it's still impossible to guarantee.</a:t>
            </a:r>
          </a:p>
          <a:p>
            <a:pPr algn="l">
              <a:lnSpc>
                <a:spcPts val="5375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431755" y="2421344"/>
            <a:ext cx="5671679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Visual:  A "Road Closed" sign on the way to approximating General TSP.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56138" y="4326344"/>
            <a:ext cx="6022913" cy="4348674"/>
            <a:chOff x="0" y="0"/>
            <a:chExt cx="10553700" cy="7620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537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553700">
                  <a:moveTo>
                    <a:pt x="0" y="0"/>
                  </a:moveTo>
                  <a:lnTo>
                    <a:pt x="10553700" y="0"/>
                  </a:lnTo>
                  <a:lnTo>
                    <a:pt x="105537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2637" t="0" r="-42637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1537" y="842963"/>
            <a:ext cx="13579822" cy="84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Proof of Theorem 3.6 (Part 1) - Th</a:t>
            </a:r>
            <a:r>
              <a:rPr lang="en-US" b="true" sz="54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 Reduction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71538" y="1943100"/>
            <a:ext cx="16544925" cy="42862"/>
            <a:chOff x="0" y="0"/>
            <a:chExt cx="22059900" cy="571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59900" cy="57150"/>
            </a:xfrm>
            <a:custGeom>
              <a:avLst/>
              <a:gdLst/>
              <a:ahLst/>
              <a:cxnLst/>
              <a:rect r="r" b="b" t="t" l="l"/>
              <a:pathLst>
                <a:path h="5715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CC0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871538" y="2457610"/>
            <a:ext cx="8848137" cy="536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375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oal: Show that approximating TSP is as hard as the Hamiltonian Cycle problem.</a:t>
            </a:r>
          </a:p>
          <a:p>
            <a:pPr algn="l" marL="604519" indent="-302260" lvl="1">
              <a:lnSpc>
                <a:spcPts val="5375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Setup: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 graph G into a complete graph G'.</a:t>
            </a:r>
          </a:p>
          <a:p>
            <a:pPr algn="l" marL="604519" indent="-302260" lvl="1">
              <a:lnSpc>
                <a:spcPts val="5375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Assigning Weights: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edge exists in G is to Cost is 1.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edge NOT in G is to Cost is α(n) . n (Huge!).</a:t>
            </a:r>
          </a:p>
          <a:p>
            <a:pPr algn="l">
              <a:lnSpc>
                <a:spcPts val="5375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431755" y="2421344"/>
            <a:ext cx="5671679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Visual: Graph being turned into a complete graph where "Missing" edges are thick, expensive red lines.</a:t>
            </a: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56138" y="4326344"/>
            <a:ext cx="6022913" cy="4348674"/>
            <a:chOff x="0" y="0"/>
            <a:chExt cx="10553700" cy="7620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537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553700">
                  <a:moveTo>
                    <a:pt x="0" y="0"/>
                  </a:moveTo>
                  <a:lnTo>
                    <a:pt x="10553700" y="0"/>
                  </a:lnTo>
                  <a:lnTo>
                    <a:pt x="105537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2637" t="0" r="-42637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1537" y="842963"/>
            <a:ext cx="11827371" cy="84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Proof of Theorem 3.6 (Part 2) - Th</a:t>
            </a:r>
            <a:r>
              <a:rPr lang="en-US" b="true" sz="54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 Gap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71538" y="1943100"/>
            <a:ext cx="16544925" cy="42862"/>
            <a:chOff x="0" y="0"/>
            <a:chExt cx="22059900" cy="571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59900" cy="57150"/>
            </a:xfrm>
            <a:custGeom>
              <a:avLst/>
              <a:gdLst/>
              <a:ahLst/>
              <a:cxnLst/>
              <a:rect r="r" b="b" t="t" l="l"/>
              <a:pathLst>
                <a:path h="5715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CC0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871538" y="2457610"/>
            <a:ext cx="8848137" cy="536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375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Hamiltonian Cycle exists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Tour uses only "1" edges. Total Cost = n.</a:t>
            </a:r>
          </a:p>
          <a:p>
            <a:pPr algn="l" marL="604519" indent="-302260" lvl="1">
              <a:lnSpc>
                <a:spcPts val="5375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2: No Hamiltonian Cycle exists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Tour must use at least one "missing" edge. </a:t>
            </a:r>
          </a:p>
          <a:p>
            <a:pPr algn="l">
              <a:lnSpc>
                <a:spcPts val="5375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Cost &gt; α (n) . n.</a:t>
            </a:r>
          </a:p>
          <a:p>
            <a:pPr algn="l" marL="604519" indent="-302260" lvl="1">
              <a:lnSpc>
                <a:spcPts val="5375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Conclusion: An approximation algorithm would easily see the "Gap" and solve an NP-hard problem.</a:t>
            </a:r>
          </a:p>
          <a:p>
            <a:pPr algn="l">
              <a:lnSpc>
                <a:spcPts val="5375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431755" y="2421344"/>
            <a:ext cx="5671679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Visual: A graph showing a "Gap" between cost n and cost \alpha(n) \cdot n.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56138" y="4326344"/>
            <a:ext cx="6022913" cy="4348674"/>
            <a:chOff x="0" y="0"/>
            <a:chExt cx="10553700" cy="7620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537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553700">
                  <a:moveTo>
                    <a:pt x="0" y="0"/>
                  </a:moveTo>
                  <a:lnTo>
                    <a:pt x="10553700" y="0"/>
                  </a:lnTo>
                  <a:lnTo>
                    <a:pt x="105537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2637" t="0" r="-42637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1537" y="842963"/>
            <a:ext cx="11140715" cy="84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Algorithm 3.7 - Metric TSP (Factor 2)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71538" y="1943100"/>
            <a:ext cx="16544925" cy="42862"/>
            <a:chOff x="0" y="0"/>
            <a:chExt cx="22059900" cy="571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59900" cy="57150"/>
            </a:xfrm>
            <a:custGeom>
              <a:avLst/>
              <a:gdLst/>
              <a:ahLst/>
              <a:cxnLst/>
              <a:rect r="r" b="b" t="t" l="l"/>
              <a:pathLst>
                <a:path h="5715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CC0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871538" y="2457610"/>
            <a:ext cx="8848137" cy="401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375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Recipe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an MST </a:t>
            </a:r>
            <a:r>
              <a:rPr lang="en-US" sz="27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T 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 graph.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every edge of the MST (makes it Eulerian).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 Euler 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tour </a:t>
            </a:r>
            <a:r>
              <a:rPr lang="en-US" sz="27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T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Short-cut the tour to visit each city once.</a:t>
            </a:r>
          </a:p>
          <a:p>
            <a:pPr algn="l">
              <a:lnSpc>
                <a:spcPts val="5375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431755" y="2421344"/>
            <a:ext cx="5671679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Visual: 1. MST \to 2. Doubled MST \to 3. Final Tour with shortcuts.</a:t>
            </a: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56138" y="4326344"/>
            <a:ext cx="6022913" cy="4348674"/>
            <a:chOff x="0" y="0"/>
            <a:chExt cx="10553700" cy="7620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537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553700">
                  <a:moveTo>
                    <a:pt x="0" y="0"/>
                  </a:moveTo>
                  <a:lnTo>
                    <a:pt x="10553700" y="0"/>
                  </a:lnTo>
                  <a:lnTo>
                    <a:pt x="105537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2637" t="0" r="-42637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1537" y="842963"/>
            <a:ext cx="10017435" cy="84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Theorem 3.8 - Factor 2 Guarantee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71538" y="1943100"/>
            <a:ext cx="16544925" cy="42862"/>
            <a:chOff x="0" y="0"/>
            <a:chExt cx="22059900" cy="571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59900" cy="57150"/>
            </a:xfrm>
            <a:custGeom>
              <a:avLst/>
              <a:gdLst/>
              <a:ahLst/>
              <a:cxnLst/>
              <a:rect r="r" b="b" t="t" l="l"/>
              <a:pathLst>
                <a:path h="5715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CC0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871538" y="2457610"/>
            <a:ext cx="8848137" cy="536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375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Statement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Algorithm 3.7 is a factor 2 approximation 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orithm for metric TSP.</a:t>
            </a:r>
          </a:p>
          <a:p>
            <a:pPr algn="l" marL="604519" indent="-302260" lvl="1">
              <a:lnSpc>
                <a:spcPts val="5375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Meaning: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final tour cost will never be more than twice the optimal tour cost.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simple, reliable way 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get a "good enough" answer quickly.</a:t>
            </a:r>
          </a:p>
          <a:p>
            <a:pPr algn="l">
              <a:lnSpc>
                <a:spcPts val="5375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431755" y="2421344"/>
            <a:ext cx="5671679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Visual: Equation: Cost(Tour) \leq 2 \cdot OPT.</a:t>
            </a: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56138" y="4326344"/>
            <a:ext cx="6022913" cy="4348674"/>
            <a:chOff x="0" y="0"/>
            <a:chExt cx="10553700" cy="7620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537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553700">
                  <a:moveTo>
                    <a:pt x="0" y="0"/>
                  </a:moveTo>
                  <a:lnTo>
                    <a:pt x="10553700" y="0"/>
                  </a:lnTo>
                  <a:lnTo>
                    <a:pt x="105537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2637" t="0" r="-42637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1537" y="842963"/>
            <a:ext cx="6246688" cy="1666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Proof of Theorem 3.8</a:t>
            </a:r>
          </a:p>
          <a:p>
            <a:pPr algn="l">
              <a:lnSpc>
                <a:spcPts val="648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871538" y="1943100"/>
            <a:ext cx="16544925" cy="42862"/>
            <a:chOff x="0" y="0"/>
            <a:chExt cx="22059900" cy="571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59900" cy="57150"/>
            </a:xfrm>
            <a:custGeom>
              <a:avLst/>
              <a:gdLst/>
              <a:ahLst/>
              <a:cxnLst/>
              <a:rect r="r" b="b" t="t" l="l"/>
              <a:pathLst>
                <a:path h="5715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CC0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871538" y="2457610"/>
            <a:ext cx="8848137" cy="6039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375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Step-by-Step Logic: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 Bound: cost(MST)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≤ OPT (Removing one edge from the optimal tour gives a tree).</a:t>
            </a:r>
          </a:p>
          <a:p>
            <a:pPr algn="l" marL="604519" indent="-302260" lvl="1">
              <a:lnSpc>
                <a:spcPts val="5375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Doublin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g: T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 Euler tour T uses each edge twice: cost(T) = 2 . cost(MST).</a:t>
            </a:r>
          </a:p>
          <a:p>
            <a:pPr algn="l" marL="604519" indent="-302260" lvl="1">
              <a:lnSpc>
                <a:spcPts val="5375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Triangle Inequality: Short-cutting only reduces the cost: cost(Final) ≤ cost(T).</a:t>
            </a:r>
          </a:p>
          <a:p>
            <a:pPr algn="l" marL="604519" indent="-302260" lvl="1">
              <a:lnSpc>
                <a:spcPts val="5375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Result: co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st(F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inal) ≤ 2 .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cost(MST) ≤ 2 . OPT.</a:t>
            </a:r>
          </a:p>
          <a:p>
            <a:pPr algn="l">
              <a:lnSpc>
                <a:spcPts val="5375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431755" y="2421344"/>
            <a:ext cx="5671679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Visual: Mathematical derivation showing Cost \leq 2 \cdot OPT.</a:t>
            </a: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56138" y="4326344"/>
            <a:ext cx="6022913" cy="4348674"/>
            <a:chOff x="0" y="0"/>
            <a:chExt cx="10553700" cy="7620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537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553700">
                  <a:moveTo>
                    <a:pt x="0" y="0"/>
                  </a:moveTo>
                  <a:lnTo>
                    <a:pt x="10553700" y="0"/>
                  </a:lnTo>
                  <a:lnTo>
                    <a:pt x="105537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2637" t="0" r="-42637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1537" y="842963"/>
            <a:ext cx="10018551" cy="1666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 - Tight Case for Factor 2</a:t>
            </a:r>
          </a:p>
          <a:p>
            <a:pPr algn="l">
              <a:lnSpc>
                <a:spcPts val="648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871538" y="1943100"/>
            <a:ext cx="16544925" cy="42862"/>
            <a:chOff x="0" y="0"/>
            <a:chExt cx="22059900" cy="571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59900" cy="57150"/>
            </a:xfrm>
            <a:custGeom>
              <a:avLst/>
              <a:gdLst/>
              <a:ahLst/>
              <a:cxnLst/>
              <a:rect r="r" b="b" t="t" l="l"/>
              <a:pathLst>
                <a:path h="5715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CC0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871538" y="2457610"/>
            <a:ext cx="8848137" cy="536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375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Scenario: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n 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vertices. Edges cost 1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2.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Optimal tour uses only "1" edges. Cost = n.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algorithm picks a poor Euler tour order.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Cost = 2n - 2.</a:t>
            </a:r>
          </a:p>
          <a:p>
            <a:pPr algn="l" marL="604519" indent="-302260" lvl="1">
              <a:lnSpc>
                <a:spcPts val="5375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nclusion: This shows that factor 2 is the b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 guarantee we can give for this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specific MST method.</a:t>
            </a:r>
          </a:p>
          <a:p>
            <a:pPr algn="l">
              <a:lnSpc>
                <a:spcPts val="5375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431755" y="2421344"/>
            <a:ext cx="5671679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Visual: A graph for n=6 showing a star-shaped MST leading to a poor tour.</a:t>
            </a: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56138" y="4326344"/>
            <a:ext cx="6022913" cy="4348674"/>
            <a:chOff x="0" y="0"/>
            <a:chExt cx="10553700" cy="7620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537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553700">
                  <a:moveTo>
                    <a:pt x="0" y="0"/>
                  </a:moveTo>
                  <a:lnTo>
                    <a:pt x="10553700" y="0"/>
                  </a:lnTo>
                  <a:lnTo>
                    <a:pt x="105537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2637" t="0" r="-42637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1537" y="842963"/>
            <a:ext cx="14363402" cy="84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Improving the Factor - Why Double Everything?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71538" y="1943100"/>
            <a:ext cx="16544925" cy="42862"/>
            <a:chOff x="0" y="0"/>
            <a:chExt cx="22059900" cy="571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59900" cy="57150"/>
            </a:xfrm>
            <a:custGeom>
              <a:avLst/>
              <a:gdLst/>
              <a:ahLst/>
              <a:cxnLst/>
              <a:rect r="r" b="b" t="t" l="l"/>
              <a:pathLst>
                <a:path h="5715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CC0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871538" y="2457610"/>
            <a:ext cx="8848137" cy="4687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375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Problem: Doublin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very edge is "wasteful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."</a:t>
            </a:r>
          </a:p>
          <a:p>
            <a:pPr algn="l" marL="604519" indent="-302260" lvl="1">
              <a:lnSpc>
                <a:spcPts val="5375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Ins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ight: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only need to make every vertex have an even degree to find an Euler tour.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an MST, 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nly some vertices have odd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degrees.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only need to fix those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specific vertices.</a:t>
            </a:r>
          </a:p>
          <a:p>
            <a:pPr algn="l">
              <a:lnSpc>
                <a:spcPts val="5375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431755" y="2421344"/>
            <a:ext cx="5671679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Visual: An MST with "Odd-degree" vertices highlighted in Red.</a:t>
            </a: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56138" y="4326344"/>
            <a:ext cx="6022913" cy="4348674"/>
            <a:chOff x="0" y="0"/>
            <a:chExt cx="10553700" cy="7620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537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553700">
                  <a:moveTo>
                    <a:pt x="0" y="0"/>
                  </a:moveTo>
                  <a:lnTo>
                    <a:pt x="10553700" y="0"/>
                  </a:lnTo>
                  <a:lnTo>
                    <a:pt x="105537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2637" t="0" r="-42637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1537" y="842963"/>
            <a:ext cx="12016941" cy="84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Algorithm 3.10 - Metric TSP (Factor 3/2)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71538" y="1943100"/>
            <a:ext cx="16544925" cy="42862"/>
            <a:chOff x="0" y="0"/>
            <a:chExt cx="22059900" cy="571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59900" cy="57150"/>
            </a:xfrm>
            <a:custGeom>
              <a:avLst/>
              <a:gdLst/>
              <a:ahLst/>
              <a:cxnLst/>
              <a:rect r="r" b="b" t="t" l="l"/>
              <a:pathLst>
                <a:path h="5715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CC0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871538" y="2457610"/>
            <a:ext cx="8848137" cy="4687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375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eps (Christofides' Algor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ithm):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 MST </a:t>
            </a:r>
            <a:r>
              <a:rPr lang="en-US" sz="27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T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all odd-degree vertices V'.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a Minimum Cost Perfect Matching </a:t>
            </a:r>
            <a:r>
              <a:rPr lang="en-US" sz="27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M 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</a:t>
            </a:r>
            <a:r>
              <a:rPr lang="en-US" sz="27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V'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 </a:t>
            </a:r>
            <a:r>
              <a:rPr lang="en-US" sz="27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M + T 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get an Eulerian 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graph.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Euler tour and sho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rt-cut.</a:t>
            </a:r>
          </a:p>
          <a:p>
            <a:pPr algn="l">
              <a:lnSpc>
                <a:spcPts val="5375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431755" y="2421344"/>
            <a:ext cx="5671679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Visual: MST (lines) + Matching (dotted lines) \to Full Eulerian Graph.</a:t>
            </a: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56138" y="4326344"/>
            <a:ext cx="6022913" cy="4348674"/>
            <a:chOff x="0" y="0"/>
            <a:chExt cx="10553700" cy="7620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537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553700">
                  <a:moveTo>
                    <a:pt x="0" y="0"/>
                  </a:moveTo>
                  <a:lnTo>
                    <a:pt x="10553700" y="0"/>
                  </a:lnTo>
                  <a:lnTo>
                    <a:pt x="105537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2637" t="0" r="-42637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1537" y="842963"/>
            <a:ext cx="10021156" cy="84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Lemma 3.11 - Bound on Matching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71538" y="1943100"/>
            <a:ext cx="16544925" cy="42862"/>
            <a:chOff x="0" y="0"/>
            <a:chExt cx="22059900" cy="571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59900" cy="57150"/>
            </a:xfrm>
            <a:custGeom>
              <a:avLst/>
              <a:gdLst/>
              <a:ahLst/>
              <a:cxnLst/>
              <a:rect r="r" b="b" t="t" l="l"/>
              <a:pathLst>
                <a:path h="5715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CC0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871538" y="2457610"/>
            <a:ext cx="8848137" cy="401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375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Statem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ent: Let V' be 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set of odd-degree vertices. Let M be the minimum cost perfect matching on V'. Then cost(M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≤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/2.</a:t>
            </a:r>
          </a:p>
          <a:p>
            <a:pPr algn="l" marL="604519" indent="-302260" lvl="1">
              <a:lnSpc>
                <a:spcPts val="5375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Idea: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matching is "che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ap" because it only connects half the nodes from an op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timal cycle.</a:t>
            </a:r>
          </a:p>
          <a:p>
            <a:pPr algn="l">
              <a:lnSpc>
                <a:spcPts val="5375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184827" y="2421344"/>
            <a:ext cx="6918607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Visual: Equation: cost(M) (≤) 0.5 . OPT.</a:t>
            </a: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56138" y="4326344"/>
            <a:ext cx="6022913" cy="4348674"/>
            <a:chOff x="0" y="0"/>
            <a:chExt cx="10553700" cy="7620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537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553700">
                  <a:moveTo>
                    <a:pt x="0" y="0"/>
                  </a:moveTo>
                  <a:lnTo>
                    <a:pt x="10553700" y="0"/>
                  </a:lnTo>
                  <a:lnTo>
                    <a:pt x="105537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2637" t="0" r="-42637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1537" y="842963"/>
            <a:ext cx="6170600" cy="1666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Proof of Lemma 3.11</a:t>
            </a:r>
          </a:p>
          <a:p>
            <a:pPr algn="l">
              <a:lnSpc>
                <a:spcPts val="648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871538" y="1943100"/>
            <a:ext cx="16544925" cy="42862"/>
            <a:chOff x="0" y="0"/>
            <a:chExt cx="22059900" cy="571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59900" cy="57150"/>
            </a:xfrm>
            <a:custGeom>
              <a:avLst/>
              <a:gdLst/>
              <a:ahLst/>
              <a:cxnLst/>
              <a:rect r="r" b="b" t="t" l="l"/>
              <a:pathLst>
                <a:path h="5715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CC0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871538" y="2457610"/>
            <a:ext cx="8848137" cy="6715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37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Logic:</a:t>
            </a:r>
          </a:p>
          <a:p>
            <a:pPr algn="l" marL="1209039" indent="-403013" lvl="2">
              <a:lnSpc>
                <a:spcPts val="537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Take the optimal tour OPT.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Short-cu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it 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visit only the odd vertices (V'). This is a cycle.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cycle is a union of two perfect matchings (alternating edges).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Triangle Inequality, cost(Cycle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≤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eaper of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two matchings m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ust be ≤ cos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t(Cycle)/2 ≤ OPT/2.</a:t>
            </a:r>
          </a:p>
          <a:p>
            <a:pPr algn="l">
              <a:lnSpc>
                <a:spcPts val="5375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184827" y="2421344"/>
            <a:ext cx="6918607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Visual: A cycle of 6 nodes with edges alternating colors (Red, Blue, Red, Blue...). Showing it splits into two separate matchings.</a:t>
            </a: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56138" y="4326344"/>
            <a:ext cx="6022913" cy="4348674"/>
            <a:chOff x="0" y="0"/>
            <a:chExt cx="10553700" cy="7620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537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553700">
                  <a:moveTo>
                    <a:pt x="0" y="0"/>
                  </a:moveTo>
                  <a:lnTo>
                    <a:pt x="10553700" y="0"/>
                  </a:lnTo>
                  <a:lnTo>
                    <a:pt x="105537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2637" t="0" r="-42637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1537" y="842963"/>
            <a:ext cx="8913502" cy="84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Theorem 3.12 - The 3/2 Factor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71538" y="1943100"/>
            <a:ext cx="16544925" cy="42862"/>
            <a:chOff x="0" y="0"/>
            <a:chExt cx="22059900" cy="571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59900" cy="57150"/>
            </a:xfrm>
            <a:custGeom>
              <a:avLst/>
              <a:gdLst/>
              <a:ahLst/>
              <a:cxnLst/>
              <a:rect r="r" b="b" t="t" l="l"/>
              <a:pathLst>
                <a:path h="5715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CC0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871538" y="2457610"/>
            <a:ext cx="8848137" cy="536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375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Analys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is: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Cost = cost(MST) + cost(Matching)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cost(MST) ≤ OPT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cost(Matching) ≤ 0.5 . OPT</a:t>
            </a:r>
          </a:p>
          <a:p>
            <a:pPr algn="l" marL="1209039" indent="-403013" lvl="2">
              <a:lnSpc>
                <a:spcPts val="5375"/>
              </a:lnSpc>
              <a:spcBef>
                <a:spcPct val="0"/>
              </a:spcBef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≤ 1.5 . 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</a:p>
          <a:p>
            <a:pPr algn="l" marL="604519" indent="-302260" lvl="1">
              <a:lnSpc>
                <a:spcPts val="5375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Conclusion: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ristofid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es' algorithm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3/2-approximation.</a:t>
            </a:r>
          </a:p>
          <a:p>
            <a:pPr algn="l">
              <a:lnSpc>
                <a:spcPts val="5375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184827" y="2421344"/>
            <a:ext cx="6918607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Visual: Bar chart comparing 1.0 (OPT) vs 1.5 (Algorithm) vs 2.0 (Standard MST).</a:t>
            </a: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71537" y="842963"/>
            <a:ext cx="7087381" cy="84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033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Summary &amp; Conclusion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71538" y="1943100"/>
            <a:ext cx="16544925" cy="42862"/>
            <a:chOff x="0" y="0"/>
            <a:chExt cx="22059900" cy="57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59900" cy="57150"/>
            </a:xfrm>
            <a:custGeom>
              <a:avLst/>
              <a:gdLst/>
              <a:ahLst/>
              <a:cxnLst/>
              <a:rect r="r" b="b" t="t" l="l"/>
              <a:pathLst>
                <a:path h="5715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CC0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871538" y="2390935"/>
            <a:ext cx="12861687" cy="4328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6912"/>
              </a:lnSpc>
              <a:spcBef>
                <a:spcPct val="0"/>
              </a:spcBef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Takeaways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algn="l" marL="1554480" indent="-518160" lvl="2">
              <a:lnSpc>
                <a:spcPts val="6912"/>
              </a:lnSpc>
              <a:spcBef>
                <a:spcPct val="0"/>
              </a:spcBef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Metr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ic version is the "core" of both Steiner and TSP.</a:t>
            </a:r>
          </a:p>
          <a:p>
            <a:pPr algn="l" marL="1554480" indent="-518160" lvl="2">
              <a:lnSpc>
                <a:spcPts val="6912"/>
              </a:lnSpc>
              <a:spcBef>
                <a:spcPct val="0"/>
              </a:spcBef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teiner Tree: MST gives factor 2.</a:t>
            </a:r>
          </a:p>
          <a:p>
            <a:pPr algn="l" marL="1554480" indent="-518160" lvl="2">
              <a:lnSpc>
                <a:spcPts val="6912"/>
              </a:lnSpc>
              <a:spcBef>
                <a:spcPct val="0"/>
              </a:spcBef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TSP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MST g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iv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 factor 2; Matching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gives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factor 1.5.</a:t>
            </a:r>
          </a:p>
          <a:p>
            <a:pPr algn="l">
              <a:lnSpc>
                <a:spcPts val="691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881087" y="3898106"/>
            <a:ext cx="6525816" cy="1452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b="true" sz="9000">
                <a:solidFill>
                  <a:srgbClr val="003366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Questions?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36469" y="5484019"/>
            <a:ext cx="6215062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Feel free to ask about the algorithms or proofs.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956097" y="2825201"/>
            <a:ext cx="6375797" cy="1452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b="true" sz="900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Thank You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93756" y="4773063"/>
            <a:ext cx="3900488" cy="978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12"/>
              </a:lnSpc>
            </a:pPr>
            <a:r>
              <a:rPr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For Your Attention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86500" y="7066512"/>
            <a:ext cx="5715000" cy="68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Master in Digital Technology </a:t>
            </a:r>
          </a:p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TU Clausthal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DAHAoWVQcOE</dc:identifier>
  <dcterms:modified xsi:type="dcterms:W3CDTF">2011-08-01T06:04:30Z</dcterms:modified>
  <cp:revision>1</cp:revision>
  <dc:title>final 1_Steiner Tree and Traveling Salesman Problem.pptx</dc:title>
</cp:coreProperties>
</file>